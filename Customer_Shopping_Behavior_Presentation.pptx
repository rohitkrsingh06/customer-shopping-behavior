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Total Revenue ($)</c:v>
                </c:pt>
              </c:strCache>
            </c:strRef>
          </c:tx>
          <c:spPr>
            <a:solidFill>
              <a:srgbClr val="562B35"/>
            </a:solidFill>
            <a:effectLst/>
          </c:spPr>
          <c:invertIfNegative val="0"/>
          <c:dPt>
            <c:idx val="0"/>
            <c:invertIfNegative val="0"/>
            <c:bubble3D val="0"/>
            <c:extLst>
              <c:ext xmlns:c16="http://schemas.microsoft.com/office/drawing/2014/chart" uri="{C3380CC4-5D6E-409C-BE32-E72D297353CC}">
                <c16:uniqueId val="{00000001-27AD-417E-BFAF-14BEF58397BC}"/>
              </c:ext>
            </c:extLst>
          </c:dPt>
          <c:dPt>
            <c:idx val="1"/>
            <c:invertIfNegative val="0"/>
            <c:bubble3D val="0"/>
            <c:spPr>
              <a:solidFill>
                <a:srgbClr val="EBD671"/>
              </a:solidFill>
              <a:effectLst/>
            </c:spPr>
            <c:extLst>
              <c:ext xmlns:c16="http://schemas.microsoft.com/office/drawing/2014/chart" uri="{C3380CC4-5D6E-409C-BE32-E72D297353CC}">
                <c16:uniqueId val="{00000003-27AD-417E-BFAF-14BEF58397BC}"/>
              </c:ext>
            </c:extLst>
          </c:dPt>
          <c:dPt>
            <c:idx val="2"/>
            <c:invertIfNegative val="0"/>
            <c:bubble3D val="0"/>
            <c:spPr>
              <a:solidFill>
                <a:srgbClr val="EADCCE"/>
              </a:solidFill>
              <a:effectLst/>
            </c:spPr>
            <c:extLst>
              <c:ext xmlns:c16="http://schemas.microsoft.com/office/drawing/2014/chart" uri="{C3380CC4-5D6E-409C-BE32-E72D297353CC}">
                <c16:uniqueId val="{00000005-27AD-417E-BFAF-14BEF58397BC}"/>
              </c:ext>
            </c:extLst>
          </c:dPt>
          <c:dPt>
            <c:idx val="3"/>
            <c:invertIfNegative val="0"/>
            <c:bubble3D val="0"/>
            <c:spPr>
              <a:solidFill>
                <a:srgbClr val="F0B6A6"/>
              </a:solidFill>
              <a:effectLst/>
            </c:spPr>
            <c:extLst>
              <c:ext xmlns:c16="http://schemas.microsoft.com/office/drawing/2014/chart" uri="{C3380CC4-5D6E-409C-BE32-E72D297353CC}">
                <c16:uniqueId val="{00000007-27AD-417E-BFAF-14BEF58397BC}"/>
              </c:ext>
            </c:extLst>
          </c:dPt>
          <c:dLbls>
            <c:numFmt formatCode="#,##0" sourceLinked="0"/>
            <c:spPr>
              <a:noFill/>
              <a:ln>
                <a:noFill/>
              </a:ln>
              <a:effectLst/>
            </c:spPr>
            <c:txPr>
              <a:bodyPr/>
              <a:lstStyle/>
              <a:p>
                <a:pPr>
                  <a:defRPr sz="1000" b="0" i="0" u="none" strike="noStrike">
                    <a:solidFill>
                      <a:srgbClr val="E9D8C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Male</c:v>
                </c:pt>
                <c:pt idx="1">
                  <c:v>Female</c:v>
                </c:pt>
                <c:pt idx="2">
                  <c:v>Non-Binary</c:v>
                </c:pt>
                <c:pt idx="3">
                  <c:v>Other</c:v>
                </c:pt>
              </c:strCache>
            </c:strRef>
          </c:cat>
          <c:val>
            <c:numRef>
              <c:f>Sheet1!$B$2:$B$5</c:f>
              <c:numCache>
                <c:formatCode>General</c:formatCode>
                <c:ptCount val="4"/>
                <c:pt idx="0">
                  <c:v>120000</c:v>
                </c:pt>
                <c:pt idx="1">
                  <c:v>150000</c:v>
                </c:pt>
                <c:pt idx="2">
                  <c:v>30000</c:v>
                </c:pt>
                <c:pt idx="3">
                  <c:v>20000</c:v>
                </c:pt>
              </c:numCache>
            </c:numRef>
          </c:val>
          <c:extLst>
            <c:ext xmlns:c16="http://schemas.microsoft.com/office/drawing/2014/chart" uri="{C3380CC4-5D6E-409C-BE32-E72D297353CC}">
              <c16:uniqueId val="{00000008-27AD-417E-BFAF-14BEF58397B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100">
              <a:solidFill>
                <a:srgbClr val="E9D8C8"/>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9684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6EE"/>
        </a:solidFill>
        <a:effectLst/>
      </p:bgPr>
    </p:bg>
    <p:spTree>
      <p:nvGrpSpPr>
        <p:cNvPr id="1" name=""/>
        <p:cNvGrpSpPr/>
        <p:nvPr/>
      </p:nvGrpSpPr>
      <p:grpSpPr>
        <a:xfrm>
          <a:off x="0" y="0"/>
          <a:ext cx="0" cy="0"/>
          <a:chOff x="0" y="0"/>
          <a:chExt cx="0" cy="0"/>
        </a:xfrm>
      </p:grpSpPr>
      <p:sp>
        <p:nvSpPr>
          <p:cNvPr id="2" name="Shape 0"/>
          <p:cNvSpPr/>
          <p:nvPr/>
        </p:nvSpPr>
        <p:spPr>
          <a:xfrm>
            <a:off x="507987" y="5333867"/>
            <a:ext cx="1269968" cy="1269968"/>
          </a:xfrm>
          <a:prstGeom prst="ellipse">
            <a:avLst/>
          </a:prstGeom>
          <a:solidFill>
            <a:srgbClr val="7C3AED">
              <a:alpha val="8000"/>
            </a:srgbClr>
          </a:solidFill>
          <a:ln/>
        </p:spPr>
      </p:sp>
      <p:sp>
        <p:nvSpPr>
          <p:cNvPr id="3" name="Shape 1"/>
          <p:cNvSpPr/>
          <p:nvPr/>
        </p:nvSpPr>
        <p:spPr>
          <a:xfrm>
            <a:off x="10413740" y="507987"/>
            <a:ext cx="1523962" cy="1523962"/>
          </a:xfrm>
          <a:prstGeom prst="ellipse">
            <a:avLst/>
          </a:prstGeom>
          <a:solidFill>
            <a:srgbClr val="E88C6F">
              <a:alpha val="10000"/>
            </a:srgbClr>
          </a:solidFill>
          <a:ln/>
        </p:spPr>
      </p:sp>
      <p:sp>
        <p:nvSpPr>
          <p:cNvPr id="4" name="Shape 2"/>
          <p:cNvSpPr/>
          <p:nvPr/>
        </p:nvSpPr>
        <p:spPr>
          <a:xfrm>
            <a:off x="761981" y="761981"/>
            <a:ext cx="761981" cy="761981"/>
          </a:xfrm>
          <a:prstGeom prst="ellipse">
            <a:avLst/>
          </a:prstGeom>
          <a:solidFill>
            <a:srgbClr val="C74B91">
              <a:alpha val="12000"/>
            </a:srgbClr>
          </a:solidFill>
          <a:ln/>
        </p:spPr>
      </p:sp>
      <p:pic>
        <p:nvPicPr>
          <p:cNvPr id="5" name="Image 0" descr="preencoded.png"/>
          <p:cNvPicPr>
            <a:picLocks noChangeAspect="1"/>
          </p:cNvPicPr>
          <p:nvPr/>
        </p:nvPicPr>
        <p:blipFill>
          <a:blip r:embed="rId3"/>
          <a:srcRect/>
          <a:stretch/>
        </p:blipFill>
        <p:spPr>
          <a:xfrm>
            <a:off x="3555911" y="6730832"/>
            <a:ext cx="5079873" cy="81448"/>
          </a:xfrm>
          <a:prstGeom prst="rect">
            <a:avLst/>
          </a:prstGeom>
        </p:spPr>
      </p:pic>
      <p:sp>
        <p:nvSpPr>
          <p:cNvPr id="6" name="Text 3"/>
          <p:cNvSpPr/>
          <p:nvPr/>
        </p:nvSpPr>
        <p:spPr>
          <a:xfrm>
            <a:off x="1015975" y="1904952"/>
            <a:ext cx="9905752" cy="1523962"/>
          </a:xfrm>
          <a:prstGeom prst="rect">
            <a:avLst/>
          </a:prstGeom>
          <a:noFill/>
          <a:ln/>
        </p:spPr>
        <p:txBody>
          <a:bodyPr wrap="square" lIns="1016" tIns="1016" rIns="1016" bIns="1016" rtlCol="0" anchor="t"/>
          <a:lstStyle/>
          <a:p>
            <a:pPr marL="0" indent="0" algn="l">
              <a:lnSpc>
                <a:spcPct val="130000"/>
              </a:lnSpc>
              <a:buNone/>
            </a:pPr>
            <a:r>
              <a:rPr lang="en-US" sz="4100" b="1" dirty="0">
                <a:solidFill>
                  <a:srgbClr val="7C3AED"/>
                </a:solidFill>
                <a:latin typeface="Segoe UI" pitchFamily="34" charset="0"/>
                <a:ea typeface="Segoe UI" pitchFamily="34" charset="-122"/>
                <a:cs typeface="Segoe UI" pitchFamily="34" charset="-120"/>
              </a:rPr>
              <a:t>Customer Shopping Behavior Analysis</a:t>
            </a:r>
            <a:r>
              <a:rPr lang="en-US" sz="4100" dirty="0">
                <a:solidFill>
                  <a:srgbClr val="7C3AED"/>
                </a:solidFill>
                <a:latin typeface="Segoe UI" pitchFamily="34" charset="0"/>
                <a:ea typeface="Segoe UI" pitchFamily="34" charset="-122"/>
                <a:cs typeface="Segoe UI" pitchFamily="34" charset="-120"/>
              </a:rPr>
              <a:t>
</a:t>
            </a:r>
            <a:endParaRPr lang="en-US" sz="4100" dirty="0"/>
          </a:p>
        </p:txBody>
      </p:sp>
      <p:sp>
        <p:nvSpPr>
          <p:cNvPr id="7" name="Text 4"/>
          <p:cNvSpPr/>
          <p:nvPr/>
        </p:nvSpPr>
        <p:spPr>
          <a:xfrm>
            <a:off x="1015975" y="6476838"/>
            <a:ext cx="3809905" cy="304792"/>
          </a:xfrm>
          <a:prstGeom prst="rect">
            <a:avLst/>
          </a:prstGeom>
          <a:noFill/>
          <a:ln/>
        </p:spPr>
        <p:txBody>
          <a:bodyPr wrap="square" lIns="1016" tIns="1016" rIns="1016" bIns="1016" rtlCol="0" anchor="t"/>
          <a:lstStyle/>
          <a:p>
            <a:pPr marL="0" indent="0" algn="l">
              <a:lnSpc>
                <a:spcPct val="130000"/>
              </a:lnSpc>
              <a:buNone/>
            </a:pPr>
            <a:r>
              <a:rPr lang="en-US" sz="1400" dirty="0">
                <a:solidFill>
                  <a:srgbClr val="334155"/>
                </a:solidFill>
                <a:latin typeface="Calibri" pitchFamily="34" charset="0"/>
                <a:ea typeface="Calibri" pitchFamily="34" charset="-122"/>
                <a:cs typeface="Calibri" pitchFamily="34" charset="-120"/>
              </a:rPr>
              <a:t>Rohit Kr Singh
</a:t>
            </a:r>
            <a:endParaRPr lang="en-US" sz="1400" dirty="0"/>
          </a:p>
        </p:txBody>
      </p:sp>
      <p:sp>
        <p:nvSpPr>
          <p:cNvPr id="8" name="Text 5"/>
          <p:cNvSpPr/>
          <p:nvPr/>
        </p:nvSpPr>
        <p:spPr>
          <a:xfrm>
            <a:off x="1015975" y="6146646"/>
            <a:ext cx="5333867" cy="279393"/>
          </a:xfrm>
          <a:prstGeom prst="rect">
            <a:avLst/>
          </a:prstGeom>
          <a:noFill/>
          <a:ln/>
        </p:spPr>
        <p:txBody>
          <a:bodyPr wrap="square" lIns="1016" tIns="1016" rIns="1016" bIns="1016" rtlCol="0" anchor="t"/>
          <a:lstStyle/>
          <a:p>
            <a:pPr marL="0" indent="0" algn="l">
              <a:lnSpc>
                <a:spcPct val="130000"/>
              </a:lnSpc>
              <a:buNone/>
            </a:pPr>
            <a:r>
              <a:rPr lang="en-US" sz="1200" dirty="0">
                <a:solidFill>
                  <a:srgbClr val="475569"/>
                </a:solidFill>
                <a:latin typeface="Calibri" pitchFamily="34" charset="0"/>
                <a:ea typeface="Calibri" pitchFamily="34" charset="-122"/>
                <a:cs typeface="Calibri" pitchFamily="34" charset="-120"/>
              </a:rPr>
              <a:t>Your Organization
</a:t>
            </a:r>
            <a:endParaRPr lang="en-US" sz="1200" dirty="0"/>
          </a:p>
        </p:txBody>
      </p:sp>
      <p:sp>
        <p:nvSpPr>
          <p:cNvPr id="9" name="Text 6"/>
          <p:cNvSpPr/>
          <p:nvPr/>
        </p:nvSpPr>
        <p:spPr>
          <a:xfrm>
            <a:off x="4952876" y="6502237"/>
            <a:ext cx="3047924" cy="279393"/>
          </a:xfrm>
          <a:prstGeom prst="rect">
            <a:avLst/>
          </a:prstGeom>
          <a:noFill/>
          <a:ln/>
        </p:spPr>
        <p:txBody>
          <a:bodyPr wrap="square" lIns="1016" tIns="1016" rIns="1016" bIns="1016" rtlCol="0" anchor="t"/>
          <a:lstStyle/>
          <a:p>
            <a:pPr marL="0" indent="0" algn="l">
              <a:lnSpc>
                <a:spcPct val="130000"/>
              </a:lnSpc>
              <a:buNone/>
            </a:pPr>
            <a:r>
              <a:rPr lang="en-US" sz="1200" dirty="0">
                <a:solidFill>
                  <a:srgbClr val="64748B"/>
                </a:solidFill>
                <a:latin typeface="Calibri" pitchFamily="34" charset="0"/>
                <a:ea typeface="Calibri" pitchFamily="34" charset="-122"/>
                <a:cs typeface="Calibri" pitchFamily="34" charset="-120"/>
              </a:rPr>
              <a:t>September 05, 2026
</a:t>
            </a:r>
            <a:endParaRPr lang="en-US" sz="1200" dirty="0"/>
          </a:p>
        </p:txBody>
      </p:sp>
      <p:pic>
        <p:nvPicPr>
          <p:cNvPr id="10" name="Image 1" descr="preencoded.png"/>
          <p:cNvPicPr>
            <a:picLocks noChangeAspect="1"/>
          </p:cNvPicPr>
          <p:nvPr/>
        </p:nvPicPr>
        <p:blipFill>
          <a:blip r:embed="rId4"/>
          <a:srcRect/>
          <a:stretch/>
        </p:blipFill>
        <p:spPr>
          <a:xfrm>
            <a:off x="0" y="0"/>
            <a:ext cx="12145975" cy="101597"/>
          </a:xfrm>
          <a:prstGeom prst="rect">
            <a:avLst/>
          </a:prstGeom>
        </p:spPr>
      </p:pic>
      <p:sp>
        <p:nvSpPr>
          <p:cNvPr id="11" name="Shape 7"/>
          <p:cNvSpPr/>
          <p:nvPr/>
        </p:nvSpPr>
        <p:spPr>
          <a:xfrm>
            <a:off x="1015975" y="1600160"/>
            <a:ext cx="711182" cy="63498"/>
          </a:xfrm>
          <a:prstGeom prst="rect">
            <a:avLst/>
          </a:prstGeom>
          <a:solidFill>
            <a:srgbClr val="7C3AED"/>
          </a:solidFill>
          <a:ln/>
        </p:spPr>
      </p:sp>
      <p:sp>
        <p:nvSpPr>
          <p:cNvPr id="12" name="Text 8"/>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6E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5486263" cy="6812280"/>
          </a:xfrm>
          <a:prstGeom prst="rect">
            <a:avLst/>
          </a:prstGeom>
        </p:spPr>
      </p:pic>
      <p:sp>
        <p:nvSpPr>
          <p:cNvPr id="3" name="Text 0"/>
          <p:cNvSpPr/>
          <p:nvPr/>
        </p:nvSpPr>
        <p:spPr>
          <a:xfrm>
            <a:off x="6299043" y="1803355"/>
            <a:ext cx="5079873" cy="1193770"/>
          </a:xfrm>
          <a:prstGeom prst="rect">
            <a:avLst/>
          </a:prstGeom>
          <a:noFill/>
          <a:ln/>
        </p:spPr>
        <p:txBody>
          <a:bodyPr wrap="square" lIns="1016" tIns="1016" rIns="1016" bIns="1016" rtlCol="0" anchor="t"/>
          <a:lstStyle/>
          <a:p>
            <a:pPr marL="0" indent="0" algn="l">
              <a:lnSpc>
                <a:spcPct val="120000"/>
              </a:lnSpc>
              <a:buNone/>
            </a:pPr>
            <a:r>
              <a:rPr lang="en-US" sz="3200" b="1" dirty="0">
                <a:solidFill>
                  <a:srgbClr val="7C3AED"/>
                </a:solidFill>
                <a:latin typeface="Segoe UI" pitchFamily="34" charset="0"/>
                <a:ea typeface="Segoe UI" pitchFamily="34" charset="-122"/>
                <a:cs typeface="Segoe UI" pitchFamily="34" charset="-120"/>
              </a:rPr>
              <a:t>Customer Shopping Behavior Analysis
</a:t>
            </a:r>
            <a:endParaRPr lang="en-US" sz="3200" dirty="0"/>
          </a:p>
        </p:txBody>
      </p:sp>
      <p:sp>
        <p:nvSpPr>
          <p:cNvPr id="4" name="Text 1"/>
          <p:cNvSpPr/>
          <p:nvPr/>
        </p:nvSpPr>
        <p:spPr>
          <a:xfrm>
            <a:off x="6299043" y="3276518"/>
            <a:ext cx="5079873" cy="2692333"/>
          </a:xfrm>
          <a:prstGeom prst="rect">
            <a:avLst/>
          </a:prstGeom>
          <a:noFill/>
          <a:ln/>
        </p:spPr>
        <p:txBody>
          <a:bodyPr wrap="square" lIns="1016" tIns="1016" rIns="1016" bIns="1016" rtlCol="0" anchor="t"/>
          <a:lstStyle/>
          <a:p>
            <a:pPr marL="0" indent="0" algn="l">
              <a:lnSpc>
                <a:spcPct val="150000"/>
              </a:lnSpc>
              <a:buNone/>
            </a:pPr>
            <a:r>
              <a:rPr lang="en-US" sz="1300" dirty="0">
                <a:solidFill>
                  <a:srgbClr val="475569"/>
                </a:solidFill>
                <a:latin typeface="Calibri" pitchFamily="34" charset="0"/>
                <a:ea typeface="Calibri" pitchFamily="34" charset="-122"/>
                <a:cs typeface="Calibri" pitchFamily="34" charset="-120"/>
              </a:rPr>
              <a:t>This presentation delves into the intricate patterns of customer shopping behavior, utilizing data-driven insights to enhance marketing strategies and improve customer engagement. By analyzing a dataset of 3,900 transactions, we uncover trends in purchasing habits, demographic influences, and the impact of discounts. Our findings aim to inform business decisions, optimize product positioning, and ultimately drive revenue growth. Join us as we explore the key factors influencing customer choices in today's competitive market.
</a:t>
            </a:r>
            <a:endParaRPr lang="en-US" sz="1300" dirty="0"/>
          </a:p>
        </p:txBody>
      </p:sp>
      <p:sp>
        <p:nvSpPr>
          <p:cNvPr id="5" name="Shape 2"/>
          <p:cNvSpPr/>
          <p:nvPr/>
        </p:nvSpPr>
        <p:spPr>
          <a:xfrm>
            <a:off x="6299043" y="1498563"/>
            <a:ext cx="711182" cy="63498"/>
          </a:xfrm>
          <a:prstGeom prst="rect">
            <a:avLst/>
          </a:prstGeom>
          <a:solidFill>
            <a:srgbClr val="7C3AED"/>
          </a:solidFill>
          <a:ln/>
        </p:spPr>
      </p:sp>
      <p:sp>
        <p:nvSpPr>
          <p:cNvPr id="6" name="Text 3"/>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6EE"/>
        </a:solidFill>
        <a:effectLst/>
      </p:bgPr>
    </p:bg>
    <p:spTree>
      <p:nvGrpSpPr>
        <p:cNvPr id="1" name=""/>
        <p:cNvGrpSpPr/>
        <p:nvPr/>
      </p:nvGrpSpPr>
      <p:grpSpPr>
        <a:xfrm>
          <a:off x="0" y="0"/>
          <a:ext cx="0" cy="0"/>
          <a:chOff x="0" y="0"/>
          <a:chExt cx="0" cy="0"/>
        </a:xfrm>
      </p:grpSpPr>
      <p:sp>
        <p:nvSpPr>
          <p:cNvPr id="2" name="Text 0"/>
          <p:cNvSpPr/>
          <p:nvPr/>
        </p:nvSpPr>
        <p:spPr>
          <a:xfrm>
            <a:off x="1079314" y="3811175"/>
            <a:ext cx="4844770" cy="248596"/>
          </a:xfrm>
          <a:prstGeom prst="rect">
            <a:avLst/>
          </a:prstGeom>
          <a:noFill/>
          <a:ln/>
        </p:spPr>
        <p:txBody>
          <a:bodyPr wrap="square" lIns="1016" tIns="1016" rIns="1016" bIns="1016" rtlCol="0" anchor="t"/>
          <a:lstStyle/>
          <a:p>
            <a:pPr marL="0" indent="0">
              <a:lnSpc>
                <a:spcPct val="122390"/>
              </a:lnSpc>
              <a:buNone/>
            </a:pPr>
            <a:r>
              <a:rPr lang="en-US" sz="1400" b="1" dirty="0">
                <a:solidFill>
                  <a:srgbClr val="0F172A"/>
                </a:solidFill>
                <a:latin typeface="Segoe UI" pitchFamily="34" charset="0"/>
                <a:ea typeface="Segoe UI" pitchFamily="34" charset="-122"/>
                <a:cs typeface="Segoe UI" pitchFamily="34" charset="-120"/>
              </a:rPr>
              <a:t>Analyzing Customer Behavior
</a:t>
            </a:r>
            <a:endParaRPr lang="en-US" sz="1400" dirty="0"/>
          </a:p>
        </p:txBody>
      </p:sp>
      <p:sp>
        <p:nvSpPr>
          <p:cNvPr id="3" name="Text 1"/>
          <p:cNvSpPr/>
          <p:nvPr/>
        </p:nvSpPr>
        <p:spPr>
          <a:xfrm>
            <a:off x="1079314" y="4109457"/>
            <a:ext cx="4844770" cy="1009625"/>
          </a:xfrm>
          <a:prstGeom prst="rect">
            <a:avLst/>
          </a:prstGeom>
          <a:noFill/>
          <a:ln/>
        </p:spPr>
        <p:txBody>
          <a:bodyPr wrap="square" lIns="1016" tIns="1016" rIns="1016" bIns="1016" rtlCol="0" anchor="t"/>
          <a:lstStyle/>
          <a:p>
            <a:pPr marL="0" indent="0">
              <a:lnSpc>
                <a:spcPct val="141973"/>
              </a:lnSpc>
              <a:buNone/>
            </a:pPr>
            <a:r>
              <a:rPr lang="en-US" sz="1300" dirty="0">
                <a:solidFill>
                  <a:srgbClr val="475569"/>
                </a:solidFill>
                <a:latin typeface="Segoe UI" pitchFamily="34" charset="0"/>
                <a:ea typeface="Segoe UI" pitchFamily="34" charset="-122"/>
                <a:cs typeface="Segoe UI" pitchFamily="34" charset="-120"/>
              </a:rPr>
              <a:t>This project focuses on understanding customer shopping behavior through detailed analysis of transaction data, revealing insights into purchasing patterns and preferences.
</a:t>
            </a:r>
            <a:endParaRPr lang="en-US" sz="1300" dirty="0"/>
          </a:p>
        </p:txBody>
      </p:sp>
      <p:sp>
        <p:nvSpPr>
          <p:cNvPr id="4" name="Text 2"/>
          <p:cNvSpPr/>
          <p:nvPr/>
        </p:nvSpPr>
        <p:spPr>
          <a:xfrm>
            <a:off x="6764803" y="3811175"/>
            <a:ext cx="4844770" cy="248596"/>
          </a:xfrm>
          <a:prstGeom prst="rect">
            <a:avLst/>
          </a:prstGeom>
          <a:noFill/>
          <a:ln/>
        </p:spPr>
        <p:txBody>
          <a:bodyPr wrap="square" lIns="1016" tIns="1016" rIns="1016" bIns="1016" rtlCol="0" anchor="t"/>
          <a:lstStyle/>
          <a:p>
            <a:pPr marL="0" indent="0">
              <a:lnSpc>
                <a:spcPct val="122390"/>
              </a:lnSpc>
              <a:buNone/>
            </a:pPr>
            <a:r>
              <a:rPr lang="en-US" sz="1400" b="1" dirty="0">
                <a:solidFill>
                  <a:srgbClr val="0F172A"/>
                </a:solidFill>
                <a:latin typeface="Segoe UI" pitchFamily="34" charset="0"/>
                <a:ea typeface="Segoe UI" pitchFamily="34" charset="-122"/>
                <a:cs typeface="Segoe UI" pitchFamily="34" charset="-120"/>
              </a:rPr>
              <a:t>Dataset Summary
</a:t>
            </a:r>
            <a:endParaRPr lang="en-US" sz="1400" dirty="0"/>
          </a:p>
        </p:txBody>
      </p:sp>
      <p:sp>
        <p:nvSpPr>
          <p:cNvPr id="5" name="Text 3"/>
          <p:cNvSpPr/>
          <p:nvPr/>
        </p:nvSpPr>
        <p:spPr>
          <a:xfrm>
            <a:off x="6764803" y="4109457"/>
            <a:ext cx="4844770" cy="1009625"/>
          </a:xfrm>
          <a:prstGeom prst="rect">
            <a:avLst/>
          </a:prstGeom>
          <a:noFill/>
          <a:ln/>
        </p:spPr>
        <p:txBody>
          <a:bodyPr wrap="square" lIns="1016" tIns="1016" rIns="1016" bIns="1016" rtlCol="0" anchor="t"/>
          <a:lstStyle/>
          <a:p>
            <a:pPr marL="0" indent="0">
              <a:lnSpc>
                <a:spcPct val="141973"/>
              </a:lnSpc>
              <a:buNone/>
            </a:pPr>
            <a:r>
              <a:rPr lang="en-US" sz="1300" dirty="0">
                <a:solidFill>
                  <a:srgbClr val="475569"/>
                </a:solidFill>
                <a:latin typeface="Segoe UI" pitchFamily="34" charset="0"/>
                <a:ea typeface="Segoe UI" pitchFamily="34" charset="-122"/>
                <a:cs typeface="Segoe UI" pitchFamily="34" charset="-120"/>
              </a:rPr>
              <a:t>The dataset comprises 3,900 rows of customer transaction data, providing a comprehensive view of shopping habits across various demographics and product categories.
</a:t>
            </a:r>
            <a:endParaRPr lang="en-US" sz="1300" dirty="0"/>
          </a:p>
        </p:txBody>
      </p:sp>
      <p:sp>
        <p:nvSpPr>
          <p:cNvPr id="6" name="Text 4"/>
          <p:cNvSpPr/>
          <p:nvPr/>
        </p:nvSpPr>
        <p:spPr>
          <a:xfrm>
            <a:off x="1079314" y="5338311"/>
            <a:ext cx="4844770" cy="248596"/>
          </a:xfrm>
          <a:prstGeom prst="rect">
            <a:avLst/>
          </a:prstGeom>
          <a:noFill/>
          <a:ln/>
        </p:spPr>
        <p:txBody>
          <a:bodyPr wrap="square" lIns="1016" tIns="1016" rIns="1016" bIns="1016" rtlCol="0" anchor="t"/>
          <a:lstStyle/>
          <a:p>
            <a:pPr marL="0" indent="0">
              <a:lnSpc>
                <a:spcPct val="122390"/>
              </a:lnSpc>
              <a:buNone/>
            </a:pPr>
            <a:r>
              <a:rPr lang="en-US" sz="1400" b="1" dirty="0">
                <a:solidFill>
                  <a:srgbClr val="0F172A"/>
                </a:solidFill>
                <a:latin typeface="Segoe UI" pitchFamily="34" charset="0"/>
                <a:ea typeface="Segoe UI" pitchFamily="34" charset="-122"/>
                <a:cs typeface="Segoe UI" pitchFamily="34" charset="-120"/>
              </a:rPr>
              <a:t>Exploratory Data Analysis
</a:t>
            </a:r>
            <a:endParaRPr lang="en-US" sz="1400" dirty="0"/>
          </a:p>
        </p:txBody>
      </p:sp>
      <p:sp>
        <p:nvSpPr>
          <p:cNvPr id="7" name="Text 5"/>
          <p:cNvSpPr/>
          <p:nvPr/>
        </p:nvSpPr>
        <p:spPr>
          <a:xfrm>
            <a:off x="1079314" y="5636596"/>
            <a:ext cx="4844770" cy="757216"/>
          </a:xfrm>
          <a:prstGeom prst="rect">
            <a:avLst/>
          </a:prstGeom>
          <a:noFill/>
          <a:ln/>
        </p:spPr>
        <p:txBody>
          <a:bodyPr wrap="square" lIns="1016" tIns="1016" rIns="1016" bIns="1016" rtlCol="0" anchor="t"/>
          <a:lstStyle/>
          <a:p>
            <a:pPr marL="0" indent="0">
              <a:lnSpc>
                <a:spcPct val="141973"/>
              </a:lnSpc>
              <a:buNone/>
            </a:pPr>
            <a:r>
              <a:rPr lang="en-US" sz="1300" dirty="0">
                <a:solidFill>
                  <a:srgbClr val="475569"/>
                </a:solidFill>
                <a:latin typeface="Segoe UI" pitchFamily="34" charset="0"/>
                <a:ea typeface="Segoe UI" pitchFamily="34" charset="-122"/>
                <a:cs typeface="Segoe UI" pitchFamily="34" charset="-120"/>
              </a:rPr>
              <a:t>Utilized Python for exploratory data analysis, employing libraries like pandas to clean, process, and visualize data, ensuring accurate insights for decision-making.
</a:t>
            </a:r>
            <a:endParaRPr lang="en-US" sz="1300" dirty="0"/>
          </a:p>
        </p:txBody>
      </p:sp>
      <p:sp>
        <p:nvSpPr>
          <p:cNvPr id="8" name="Text 6"/>
          <p:cNvSpPr/>
          <p:nvPr/>
        </p:nvSpPr>
        <p:spPr>
          <a:xfrm>
            <a:off x="6764803" y="5338311"/>
            <a:ext cx="4844770" cy="248596"/>
          </a:xfrm>
          <a:prstGeom prst="rect">
            <a:avLst/>
          </a:prstGeom>
          <a:noFill/>
          <a:ln/>
        </p:spPr>
        <p:txBody>
          <a:bodyPr wrap="square" lIns="1016" tIns="1016" rIns="1016" bIns="1016" rtlCol="0" anchor="t"/>
          <a:lstStyle/>
          <a:p>
            <a:pPr marL="0" indent="0">
              <a:lnSpc>
                <a:spcPct val="122390"/>
              </a:lnSpc>
              <a:buNone/>
            </a:pPr>
            <a:r>
              <a:rPr lang="en-US" sz="1400" b="1" dirty="0">
                <a:solidFill>
                  <a:srgbClr val="0F172A"/>
                </a:solidFill>
                <a:latin typeface="Segoe UI" pitchFamily="34" charset="0"/>
                <a:ea typeface="Segoe UI" pitchFamily="34" charset="-122"/>
                <a:cs typeface="Segoe UI" pitchFamily="34" charset="-120"/>
              </a:rPr>
              <a:t>Power BI Dashboard
</a:t>
            </a:r>
            <a:endParaRPr lang="en-US" sz="1400" dirty="0"/>
          </a:p>
        </p:txBody>
      </p:sp>
      <p:sp>
        <p:nvSpPr>
          <p:cNvPr id="9" name="Text 7"/>
          <p:cNvSpPr/>
          <p:nvPr/>
        </p:nvSpPr>
        <p:spPr>
          <a:xfrm>
            <a:off x="6764803" y="5636596"/>
            <a:ext cx="4844770" cy="757216"/>
          </a:xfrm>
          <a:prstGeom prst="rect">
            <a:avLst/>
          </a:prstGeom>
          <a:noFill/>
          <a:ln/>
        </p:spPr>
        <p:txBody>
          <a:bodyPr wrap="square" lIns="1016" tIns="1016" rIns="1016" bIns="1016" rtlCol="0" anchor="t"/>
          <a:lstStyle/>
          <a:p>
            <a:pPr marL="0" indent="0">
              <a:lnSpc>
                <a:spcPct val="141973"/>
              </a:lnSpc>
              <a:buNone/>
            </a:pPr>
            <a:r>
              <a:rPr lang="en-US" sz="1300" dirty="0">
                <a:solidFill>
                  <a:srgbClr val="475569"/>
                </a:solidFill>
                <a:latin typeface="Segoe UI" pitchFamily="34" charset="0"/>
                <a:ea typeface="Segoe UI" pitchFamily="34" charset="-122"/>
                <a:cs typeface="Segoe UI" pitchFamily="34" charset="-120"/>
              </a:rPr>
              <a:t>An interactive Power BI dashboard was created to visually present insights, showcasing key metrics such as revenue, customer demographics, and product performance.
</a:t>
            </a:r>
            <a:endParaRPr lang="en-US" sz="1300" dirty="0"/>
          </a:p>
        </p:txBody>
      </p:sp>
      <p:sp>
        <p:nvSpPr>
          <p:cNvPr id="10" name="Text 8"/>
          <p:cNvSpPr/>
          <p:nvPr/>
        </p:nvSpPr>
        <p:spPr>
          <a:xfrm>
            <a:off x="571962" y="3184446"/>
            <a:ext cx="11047771" cy="417661"/>
          </a:xfrm>
          <a:prstGeom prst="rect">
            <a:avLst/>
          </a:prstGeom>
          <a:noFill/>
          <a:ln/>
        </p:spPr>
        <p:txBody>
          <a:bodyPr wrap="square" lIns="1016" tIns="1016" rIns="1016" bIns="1016" rtlCol="0" anchor="t"/>
          <a:lstStyle/>
          <a:p>
            <a:pPr marL="0" indent="0">
              <a:lnSpc>
                <a:spcPct val="121846"/>
              </a:lnSpc>
              <a:buNone/>
            </a:pPr>
            <a:r>
              <a:rPr lang="en-US" sz="2400" b="1" dirty="0">
                <a:solidFill>
                  <a:srgbClr val="0F172A"/>
                </a:solidFill>
                <a:latin typeface="Segoe UI" pitchFamily="34" charset="0"/>
                <a:ea typeface="Segoe UI" pitchFamily="34" charset="-122"/>
                <a:cs typeface="Segoe UI" pitchFamily="34" charset="-120"/>
              </a:rPr>
              <a:t>Project Overview
</a:t>
            </a:r>
            <a:endParaRPr lang="en-US" sz="2400" dirty="0"/>
          </a:p>
        </p:txBody>
      </p:sp>
      <p:sp>
        <p:nvSpPr>
          <p:cNvPr id="11" name="Shape 9"/>
          <p:cNvSpPr/>
          <p:nvPr/>
        </p:nvSpPr>
        <p:spPr>
          <a:xfrm>
            <a:off x="0" y="2743130"/>
            <a:ext cx="12145975" cy="62069"/>
          </a:xfrm>
          <a:prstGeom prst="rect">
            <a:avLst/>
          </a:prstGeom>
          <a:solidFill>
            <a:srgbClr val="7C3AED"/>
          </a:solidFill>
          <a:ln/>
        </p:spPr>
      </p:sp>
      <p:sp>
        <p:nvSpPr>
          <p:cNvPr id="12" name="Shape 10"/>
          <p:cNvSpPr/>
          <p:nvPr/>
        </p:nvSpPr>
        <p:spPr>
          <a:xfrm>
            <a:off x="571962" y="3801014"/>
            <a:ext cx="348130" cy="348130"/>
          </a:xfrm>
          <a:prstGeom prst="ellipse">
            <a:avLst/>
          </a:prstGeom>
          <a:solidFill>
            <a:srgbClr val="7C3AED">
              <a:alpha val="12000"/>
            </a:srgbClr>
          </a:solidFill>
          <a:ln/>
        </p:spPr>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2764" y="3881815"/>
            <a:ext cx="186367" cy="186367"/>
          </a:xfrm>
          <a:prstGeom prst="rect">
            <a:avLst/>
          </a:prstGeom>
        </p:spPr>
      </p:pic>
      <p:sp>
        <p:nvSpPr>
          <p:cNvPr id="14" name="Shape 11"/>
          <p:cNvSpPr/>
          <p:nvPr/>
        </p:nvSpPr>
        <p:spPr>
          <a:xfrm>
            <a:off x="6257451" y="3801014"/>
            <a:ext cx="348130" cy="348130"/>
          </a:xfrm>
          <a:prstGeom prst="ellipse">
            <a:avLst/>
          </a:prstGeom>
          <a:solidFill>
            <a:srgbClr val="7C3AED">
              <a:alpha val="12000"/>
            </a:srgbClr>
          </a:solidFill>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38254" y="3881815"/>
            <a:ext cx="186367" cy="186367"/>
          </a:xfrm>
          <a:prstGeom prst="rect">
            <a:avLst/>
          </a:prstGeom>
        </p:spPr>
      </p:pic>
      <p:sp>
        <p:nvSpPr>
          <p:cNvPr id="16" name="Shape 12"/>
          <p:cNvSpPr/>
          <p:nvPr/>
        </p:nvSpPr>
        <p:spPr>
          <a:xfrm>
            <a:off x="571962" y="5328150"/>
            <a:ext cx="348130" cy="348130"/>
          </a:xfrm>
          <a:prstGeom prst="ellipse">
            <a:avLst/>
          </a:prstGeom>
          <a:solidFill>
            <a:srgbClr val="7C3AED">
              <a:alpha val="12000"/>
            </a:srgbClr>
          </a:solidFill>
          <a:ln/>
        </p:spPr>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2764" y="5408954"/>
            <a:ext cx="186367" cy="186367"/>
          </a:xfrm>
          <a:prstGeom prst="rect">
            <a:avLst/>
          </a:prstGeom>
        </p:spPr>
      </p:pic>
      <p:sp>
        <p:nvSpPr>
          <p:cNvPr id="18" name="Shape 13"/>
          <p:cNvSpPr/>
          <p:nvPr/>
        </p:nvSpPr>
        <p:spPr>
          <a:xfrm>
            <a:off x="6257451" y="5328150"/>
            <a:ext cx="348130" cy="348130"/>
          </a:xfrm>
          <a:prstGeom prst="ellipse">
            <a:avLst/>
          </a:prstGeom>
          <a:solidFill>
            <a:srgbClr val="7C3AED">
              <a:alpha val="12000"/>
            </a:srgbClr>
          </a:solidFill>
          <a:ln/>
        </p:spPr>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38254" y="5408954"/>
            <a:ext cx="186367" cy="186367"/>
          </a:xfrm>
          <a:prstGeom prst="rect">
            <a:avLst/>
          </a:prstGeom>
        </p:spPr>
      </p:pic>
      <p:pic>
        <p:nvPicPr>
          <p:cNvPr id="20" name="Image 4" descr="/static/uploads/extracted/84751/doc_e29783775a.jpeg"/>
          <p:cNvPicPr>
            <a:picLocks noChangeAspect="1"/>
          </p:cNvPicPr>
          <p:nvPr/>
        </p:nvPicPr>
        <p:blipFill>
          <a:blip r:embed="rId7"/>
          <a:stretch>
            <a:fillRect/>
          </a:stretch>
        </p:blipFill>
        <p:spPr>
          <a:xfrm>
            <a:off x="3614732" y="0"/>
            <a:ext cx="4916511" cy="2743131"/>
          </a:xfrm>
          <a:prstGeom prst="rect">
            <a:avLst/>
          </a:prstGeom>
        </p:spPr>
      </p:pic>
      <p:sp>
        <p:nvSpPr>
          <p:cNvPr id="21" name="Text 14"/>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6EE"/>
        </a:solidFill>
        <a:effectLst/>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7C3AED"/>
                </a:solidFill>
                <a:latin typeface="Segoe UI" pitchFamily="34" charset="0"/>
                <a:ea typeface="Segoe UI" pitchFamily="34" charset="-122"/>
                <a:cs typeface="Segoe UI" pitchFamily="34" charset="-120"/>
              </a:rPr>
              <a:t>Data Preparation Steps
</a:t>
            </a:r>
            <a:endParaRPr lang="en-US" sz="2900" dirty="0"/>
          </a:p>
        </p:txBody>
      </p:sp>
      <p:sp>
        <p:nvSpPr>
          <p:cNvPr id="3" name="Text 1"/>
          <p:cNvSpPr/>
          <p:nvPr/>
        </p:nvSpPr>
        <p:spPr>
          <a:xfrm>
            <a:off x="1229329" y="1732234"/>
            <a:ext cx="10190226"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Data Loading with Pandas
</a:t>
            </a:r>
            <a:endParaRPr lang="en-US" sz="1400" dirty="0"/>
          </a:p>
        </p:txBody>
      </p:sp>
      <p:sp>
        <p:nvSpPr>
          <p:cNvPr id="4" name="Text 2"/>
          <p:cNvSpPr/>
          <p:nvPr/>
        </p:nvSpPr>
        <p:spPr>
          <a:xfrm>
            <a:off x="1229329" y="2037027"/>
            <a:ext cx="10190226" cy="515608"/>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We imported the dataset using pandas, enabling efficient data handling and manipulation for subsequent analysis. This step is crucial for large datasets.
</a:t>
            </a:r>
            <a:endParaRPr lang="en-US" sz="1300" dirty="0"/>
          </a:p>
        </p:txBody>
      </p:sp>
      <p:sp>
        <p:nvSpPr>
          <p:cNvPr id="5" name="Text 3"/>
          <p:cNvSpPr/>
          <p:nvPr/>
        </p:nvSpPr>
        <p:spPr>
          <a:xfrm>
            <a:off x="1229329" y="2801549"/>
            <a:ext cx="10190226" cy="253993"/>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Initial Data Exploration
</a:t>
            </a:r>
            <a:endParaRPr lang="en-US" sz="1400" dirty="0"/>
          </a:p>
        </p:txBody>
      </p:sp>
      <p:sp>
        <p:nvSpPr>
          <p:cNvPr id="6" name="Text 4"/>
          <p:cNvSpPr/>
          <p:nvPr/>
        </p:nvSpPr>
        <p:spPr>
          <a:xfrm>
            <a:off x="1229329" y="3106341"/>
            <a:ext cx="10190226" cy="515605"/>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Utilized df.info() and .describe() methods to assess the dataset's structure and summary statistics, ensuring a comprehensive understanding of the data.
</a:t>
            </a:r>
            <a:endParaRPr lang="en-US" sz="1300" dirty="0"/>
          </a:p>
        </p:txBody>
      </p:sp>
      <p:sp>
        <p:nvSpPr>
          <p:cNvPr id="7" name="Text 5"/>
          <p:cNvSpPr/>
          <p:nvPr/>
        </p:nvSpPr>
        <p:spPr>
          <a:xfrm>
            <a:off x="1229329" y="3870863"/>
            <a:ext cx="10190226" cy="253993"/>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Handling Missing Data
</a:t>
            </a:r>
            <a:endParaRPr lang="en-US" sz="1400" dirty="0"/>
          </a:p>
        </p:txBody>
      </p:sp>
      <p:sp>
        <p:nvSpPr>
          <p:cNvPr id="8" name="Text 6"/>
          <p:cNvSpPr/>
          <p:nvPr/>
        </p:nvSpPr>
        <p:spPr>
          <a:xfrm>
            <a:off x="1229329" y="4175656"/>
            <a:ext cx="10190226" cy="515608"/>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Checked for null values and imputed missing ratings using the median of each product category, enhancing data integrity and reliability for analysis.
</a:t>
            </a:r>
            <a:endParaRPr lang="en-US" sz="1300" dirty="0"/>
          </a:p>
        </p:txBody>
      </p:sp>
      <p:sp>
        <p:nvSpPr>
          <p:cNvPr id="9" name="Text 7"/>
          <p:cNvSpPr/>
          <p:nvPr/>
        </p:nvSpPr>
        <p:spPr>
          <a:xfrm>
            <a:off x="1229329" y="4940174"/>
            <a:ext cx="10190226"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Column Standardization
</a:t>
            </a:r>
            <a:endParaRPr lang="en-US" sz="1400" dirty="0"/>
          </a:p>
        </p:txBody>
      </p:sp>
      <p:sp>
        <p:nvSpPr>
          <p:cNvPr id="10" name="Text 8"/>
          <p:cNvSpPr/>
          <p:nvPr/>
        </p:nvSpPr>
        <p:spPr>
          <a:xfrm>
            <a:off x="1229329" y="5244966"/>
            <a:ext cx="10190226" cy="515608"/>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Renamed columns to snake case for improved readability and consistency, facilitating easier data manipulation and documentation throughout the analysis.
</a:t>
            </a:r>
            <a:endParaRPr lang="en-US" sz="1300"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1981" y="1747474"/>
            <a:ext cx="279393" cy="279393"/>
          </a:xfrm>
          <a:prstGeom prst="rect">
            <a:avLst/>
          </a:prstGeom>
        </p:spPr>
      </p:pic>
      <p:pic>
        <p:nvPicPr>
          <p:cNvPr id="12"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1982" y="2816788"/>
            <a:ext cx="279391" cy="279391"/>
          </a:xfrm>
          <a:prstGeom prst="rect">
            <a:avLst/>
          </a:prstGeom>
        </p:spPr>
      </p:pic>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1981" y="3886103"/>
            <a:ext cx="279393" cy="279393"/>
          </a:xfrm>
          <a:prstGeom prst="rect">
            <a:avLst/>
          </a:prstGeom>
        </p:spPr>
      </p:pic>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1981" y="4955414"/>
            <a:ext cx="279393" cy="279393"/>
          </a:xfrm>
          <a:prstGeom prst="rect">
            <a:avLst/>
          </a:prstGeom>
        </p:spPr>
      </p:pic>
      <p:sp>
        <p:nvSpPr>
          <p:cNvPr id="15" name="Text 9"/>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6EE"/>
        </a:solidFill>
        <a:effectLst/>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marL="0" indent="0" algn="l">
              <a:lnSpc>
                <a:spcPct val="130000"/>
              </a:lnSpc>
              <a:buNone/>
            </a:pPr>
            <a:r>
              <a:rPr lang="en-US" sz="2900" dirty="0">
                <a:solidFill>
                  <a:srgbClr val="7C3AED"/>
                </a:solidFill>
                <a:latin typeface="Segoe UI" pitchFamily="34" charset="0"/>
                <a:ea typeface="Segoe UI" pitchFamily="34" charset="-122"/>
                <a:cs typeface="Segoe UI" pitchFamily="34" charset="-120"/>
              </a:rPr>
              <a:t>Feature Engineering and Data Integrity
</a:t>
            </a:r>
            <a:endParaRPr lang="en-US" sz="2900" dirty="0"/>
          </a:p>
        </p:txBody>
      </p:sp>
      <p:sp>
        <p:nvSpPr>
          <p:cNvPr id="3" name="Text 1"/>
          <p:cNvSpPr/>
          <p:nvPr/>
        </p:nvSpPr>
        <p:spPr>
          <a:xfrm>
            <a:off x="761981" y="2501839"/>
            <a:ext cx="5079873" cy="317493"/>
          </a:xfrm>
          <a:prstGeom prst="rect">
            <a:avLst/>
          </a:prstGeom>
          <a:noFill/>
          <a:ln/>
        </p:spPr>
        <p:txBody>
          <a:bodyPr wrap="square" lIns="1016" tIns="1016" rIns="1016" bIns="1016" rtlCol="0" anchor="t"/>
          <a:lstStyle/>
          <a:p>
            <a:pPr marL="0" indent="0" algn="l">
              <a:lnSpc>
                <a:spcPct val="125000"/>
              </a:lnSpc>
              <a:buNone/>
            </a:pPr>
            <a:r>
              <a:rPr lang="en-US" sz="1800" b="1" dirty="0">
                <a:solidFill>
                  <a:srgbClr val="7C3AED"/>
                </a:solidFill>
                <a:latin typeface="Segoe UI" pitchFamily="34" charset="0"/>
                <a:ea typeface="Segoe UI" pitchFamily="34" charset="-122"/>
                <a:cs typeface="Segoe UI" pitchFamily="34" charset="-120"/>
              </a:rPr>
              <a:t>Feature Engineering
</a:t>
            </a:r>
            <a:endParaRPr lang="en-US" sz="1800" dirty="0"/>
          </a:p>
        </p:txBody>
      </p:sp>
      <p:sp>
        <p:nvSpPr>
          <p:cNvPr id="4" name="Text 2"/>
          <p:cNvSpPr/>
          <p:nvPr/>
        </p:nvSpPr>
        <p:spPr>
          <a:xfrm>
            <a:off x="1003275" y="2971726"/>
            <a:ext cx="4838579" cy="571486"/>
          </a:xfrm>
          <a:prstGeom prst="rect">
            <a:avLst/>
          </a:prstGeom>
          <a:noFill/>
          <a:ln/>
        </p:spPr>
        <p:txBody>
          <a:bodyPr wrap="square" lIns="1016" tIns="1016" rIns="1016" bIns="1016" rtlCol="0" anchor="t"/>
          <a:lstStyle/>
          <a:p>
            <a:pPr marL="0" indent="0" algn="l">
              <a:lnSpc>
                <a:spcPct val="150000"/>
              </a:lnSpc>
              <a:buNone/>
            </a:pPr>
            <a:r>
              <a:rPr lang="en-US" sz="1400" dirty="0">
                <a:solidFill>
                  <a:srgbClr val="0F172A"/>
                </a:solidFill>
                <a:latin typeface="Segoe UI" pitchFamily="34" charset="0"/>
                <a:ea typeface="Segoe UI" pitchFamily="34" charset="-122"/>
                <a:cs typeface="Segoe UI" pitchFamily="34" charset="-120"/>
              </a:rPr>
              <a:t>Created age_group column by binning customer ages.
</a:t>
            </a:r>
            <a:endParaRPr lang="en-US" sz="1400" dirty="0"/>
          </a:p>
        </p:txBody>
      </p:sp>
      <p:sp>
        <p:nvSpPr>
          <p:cNvPr id="5" name="Text 3"/>
          <p:cNvSpPr/>
          <p:nvPr/>
        </p:nvSpPr>
        <p:spPr>
          <a:xfrm>
            <a:off x="1003275" y="3695608"/>
            <a:ext cx="4838579" cy="571486"/>
          </a:xfrm>
          <a:prstGeom prst="rect">
            <a:avLst/>
          </a:prstGeom>
          <a:noFill/>
          <a:ln/>
        </p:spPr>
        <p:txBody>
          <a:bodyPr wrap="square" lIns="1016" tIns="1016" rIns="1016" bIns="1016" rtlCol="0" anchor="t"/>
          <a:lstStyle/>
          <a:p>
            <a:pPr marL="0" indent="0" algn="l">
              <a:lnSpc>
                <a:spcPct val="150000"/>
              </a:lnSpc>
              <a:buNone/>
            </a:pPr>
            <a:r>
              <a:rPr lang="en-US" sz="1400" dirty="0">
                <a:solidFill>
                  <a:srgbClr val="0F172A"/>
                </a:solidFill>
                <a:latin typeface="Segoe UI" pitchFamily="34" charset="0"/>
                <a:ea typeface="Segoe UI" pitchFamily="34" charset="-122"/>
                <a:cs typeface="Segoe UI" pitchFamily="34" charset="-120"/>
              </a:rPr>
              <a:t>Developed purchase_frequency_days from transaction data.
</a:t>
            </a:r>
            <a:endParaRPr lang="en-US" sz="1400" dirty="0"/>
          </a:p>
        </p:txBody>
      </p:sp>
      <p:sp>
        <p:nvSpPr>
          <p:cNvPr id="6" name="Text 4"/>
          <p:cNvSpPr/>
          <p:nvPr/>
        </p:nvSpPr>
        <p:spPr>
          <a:xfrm>
            <a:off x="1003275" y="4419490"/>
            <a:ext cx="4838579" cy="571486"/>
          </a:xfrm>
          <a:prstGeom prst="rect">
            <a:avLst/>
          </a:prstGeom>
          <a:noFill/>
          <a:ln/>
        </p:spPr>
        <p:txBody>
          <a:bodyPr wrap="square" lIns="1016" tIns="1016" rIns="1016" bIns="1016" rtlCol="0" anchor="t"/>
          <a:lstStyle/>
          <a:p>
            <a:pPr marL="0" indent="0" algn="l">
              <a:lnSpc>
                <a:spcPct val="150000"/>
              </a:lnSpc>
              <a:buNone/>
            </a:pPr>
            <a:r>
              <a:rPr lang="en-US" sz="1400" dirty="0">
                <a:solidFill>
                  <a:srgbClr val="0F172A"/>
                </a:solidFill>
                <a:latin typeface="Segoe UI" pitchFamily="34" charset="0"/>
                <a:ea typeface="Segoe UI" pitchFamily="34" charset="-122"/>
                <a:cs typeface="Segoe UI" pitchFamily="34" charset="-120"/>
              </a:rPr>
              <a:t>Implemented feature transformations for enhanced analysis.
</a:t>
            </a:r>
            <a:endParaRPr lang="en-US" sz="1400" dirty="0"/>
          </a:p>
        </p:txBody>
      </p:sp>
      <p:sp>
        <p:nvSpPr>
          <p:cNvPr id="7" name="Text 5"/>
          <p:cNvSpPr/>
          <p:nvPr/>
        </p:nvSpPr>
        <p:spPr>
          <a:xfrm>
            <a:off x="6349841" y="2501839"/>
            <a:ext cx="5079873" cy="317493"/>
          </a:xfrm>
          <a:prstGeom prst="rect">
            <a:avLst/>
          </a:prstGeom>
          <a:noFill/>
          <a:ln/>
        </p:spPr>
        <p:txBody>
          <a:bodyPr wrap="square" lIns="1016" tIns="1016" rIns="1016" bIns="1016" rtlCol="0" anchor="t"/>
          <a:lstStyle/>
          <a:p>
            <a:pPr marL="0" indent="0" algn="l">
              <a:lnSpc>
                <a:spcPct val="125000"/>
              </a:lnSpc>
              <a:buNone/>
            </a:pPr>
            <a:r>
              <a:rPr lang="en-US" sz="1800" b="1" dirty="0">
                <a:solidFill>
                  <a:srgbClr val="8B5CF6"/>
                </a:solidFill>
                <a:latin typeface="Segoe UI" pitchFamily="34" charset="0"/>
                <a:ea typeface="Segoe UI" pitchFamily="34" charset="-122"/>
                <a:cs typeface="Segoe UI" pitchFamily="34" charset="-120"/>
              </a:rPr>
              <a:t>Data Integrity Checks
</a:t>
            </a:r>
            <a:endParaRPr lang="en-US" sz="1800" dirty="0"/>
          </a:p>
        </p:txBody>
      </p:sp>
      <p:sp>
        <p:nvSpPr>
          <p:cNvPr id="8" name="Text 6"/>
          <p:cNvSpPr/>
          <p:nvPr/>
        </p:nvSpPr>
        <p:spPr>
          <a:xfrm>
            <a:off x="6591136" y="2971726"/>
            <a:ext cx="4838579" cy="571486"/>
          </a:xfrm>
          <a:prstGeom prst="rect">
            <a:avLst/>
          </a:prstGeom>
          <a:noFill/>
          <a:ln/>
        </p:spPr>
        <p:txBody>
          <a:bodyPr wrap="square" lIns="1016" tIns="1016" rIns="1016" bIns="1016" rtlCol="0" anchor="t"/>
          <a:lstStyle/>
          <a:p>
            <a:pPr marL="0" indent="0" algn="l">
              <a:lnSpc>
                <a:spcPct val="150000"/>
              </a:lnSpc>
              <a:buNone/>
            </a:pPr>
            <a:r>
              <a:rPr lang="en-US" sz="1400" dirty="0">
                <a:solidFill>
                  <a:srgbClr val="0F172A"/>
                </a:solidFill>
                <a:latin typeface="Segoe UI" pitchFamily="34" charset="0"/>
                <a:ea typeface="Segoe UI" pitchFamily="34" charset="-122"/>
                <a:cs typeface="Segoe UI" pitchFamily="34" charset="-120"/>
              </a:rPr>
              <a:t>Conducted data consistency checks to ensure variable integrity.
</a:t>
            </a:r>
            <a:endParaRPr lang="en-US" sz="1400" dirty="0"/>
          </a:p>
        </p:txBody>
      </p:sp>
      <p:sp>
        <p:nvSpPr>
          <p:cNvPr id="9" name="Text 7"/>
          <p:cNvSpPr/>
          <p:nvPr/>
        </p:nvSpPr>
        <p:spPr>
          <a:xfrm>
            <a:off x="6591136" y="3695608"/>
            <a:ext cx="4838579" cy="571486"/>
          </a:xfrm>
          <a:prstGeom prst="rect">
            <a:avLst/>
          </a:prstGeom>
          <a:noFill/>
          <a:ln/>
        </p:spPr>
        <p:txBody>
          <a:bodyPr wrap="square" lIns="1016" tIns="1016" rIns="1016" bIns="1016" rtlCol="0" anchor="t"/>
          <a:lstStyle/>
          <a:p>
            <a:pPr marL="0" indent="0" algn="l">
              <a:lnSpc>
                <a:spcPct val="150000"/>
              </a:lnSpc>
              <a:buNone/>
            </a:pPr>
            <a:r>
              <a:rPr lang="en-US" sz="1400" dirty="0">
                <a:solidFill>
                  <a:srgbClr val="0F172A"/>
                </a:solidFill>
                <a:latin typeface="Segoe UI" pitchFamily="34" charset="0"/>
                <a:ea typeface="Segoe UI" pitchFamily="34" charset="-122"/>
                <a:cs typeface="Segoe UI" pitchFamily="34" charset="-120"/>
              </a:rPr>
              <a:t>Verified relationships between discount_applied and promo_code_used.
</a:t>
            </a:r>
            <a:endParaRPr lang="en-US" sz="1400" dirty="0"/>
          </a:p>
        </p:txBody>
      </p:sp>
      <p:sp>
        <p:nvSpPr>
          <p:cNvPr id="10" name="Text 8"/>
          <p:cNvSpPr/>
          <p:nvPr/>
        </p:nvSpPr>
        <p:spPr>
          <a:xfrm>
            <a:off x="6591136" y="4419490"/>
            <a:ext cx="4838579" cy="571486"/>
          </a:xfrm>
          <a:prstGeom prst="rect">
            <a:avLst/>
          </a:prstGeom>
          <a:noFill/>
          <a:ln/>
        </p:spPr>
        <p:txBody>
          <a:bodyPr wrap="square" lIns="1016" tIns="1016" rIns="1016" bIns="1016" rtlCol="0" anchor="t"/>
          <a:lstStyle/>
          <a:p>
            <a:pPr marL="0" indent="0" algn="l">
              <a:lnSpc>
                <a:spcPct val="150000"/>
              </a:lnSpc>
              <a:buNone/>
            </a:pPr>
            <a:r>
              <a:rPr lang="en-US" sz="1400" dirty="0">
                <a:solidFill>
                  <a:srgbClr val="0F172A"/>
                </a:solidFill>
                <a:latin typeface="Segoe UI" pitchFamily="34" charset="0"/>
                <a:ea typeface="Segoe UI" pitchFamily="34" charset="-122"/>
                <a:cs typeface="Segoe UI" pitchFamily="34" charset="-120"/>
              </a:rPr>
              <a:t>Integrated database with PostgreSQL for efficient data storage.
</a:t>
            </a:r>
            <a:endParaRPr lang="en-US" sz="1400" dirty="0"/>
          </a:p>
        </p:txBody>
      </p:sp>
      <p:sp>
        <p:nvSpPr>
          <p:cNvPr id="11" name="Shape 9"/>
          <p:cNvSpPr/>
          <p:nvPr/>
        </p:nvSpPr>
        <p:spPr>
          <a:xfrm>
            <a:off x="761981" y="3073324"/>
            <a:ext cx="88898" cy="88899"/>
          </a:xfrm>
          <a:prstGeom prst="ellipse">
            <a:avLst/>
          </a:prstGeom>
          <a:solidFill>
            <a:srgbClr val="7C3AED"/>
          </a:solidFill>
          <a:ln/>
        </p:spPr>
      </p:sp>
      <p:sp>
        <p:nvSpPr>
          <p:cNvPr id="12" name="Shape 10"/>
          <p:cNvSpPr/>
          <p:nvPr/>
        </p:nvSpPr>
        <p:spPr>
          <a:xfrm>
            <a:off x="761981" y="3797206"/>
            <a:ext cx="88898" cy="88899"/>
          </a:xfrm>
          <a:prstGeom prst="ellipse">
            <a:avLst/>
          </a:prstGeom>
          <a:solidFill>
            <a:srgbClr val="7C3AED"/>
          </a:solidFill>
          <a:ln/>
        </p:spPr>
      </p:sp>
      <p:sp>
        <p:nvSpPr>
          <p:cNvPr id="13" name="Shape 11"/>
          <p:cNvSpPr/>
          <p:nvPr/>
        </p:nvSpPr>
        <p:spPr>
          <a:xfrm>
            <a:off x="761981" y="4521088"/>
            <a:ext cx="88898" cy="88896"/>
          </a:xfrm>
          <a:prstGeom prst="ellipse">
            <a:avLst/>
          </a:prstGeom>
          <a:solidFill>
            <a:srgbClr val="7C3AED"/>
          </a:solidFill>
          <a:ln/>
        </p:spPr>
      </p:sp>
      <p:sp>
        <p:nvSpPr>
          <p:cNvPr id="14" name="Shape 12"/>
          <p:cNvSpPr/>
          <p:nvPr/>
        </p:nvSpPr>
        <p:spPr>
          <a:xfrm>
            <a:off x="6349841" y="3073324"/>
            <a:ext cx="88898" cy="88899"/>
          </a:xfrm>
          <a:prstGeom prst="ellipse">
            <a:avLst/>
          </a:prstGeom>
          <a:solidFill>
            <a:srgbClr val="8B5CF6"/>
          </a:solidFill>
          <a:ln/>
        </p:spPr>
      </p:sp>
      <p:sp>
        <p:nvSpPr>
          <p:cNvPr id="15" name="Shape 13"/>
          <p:cNvSpPr/>
          <p:nvPr/>
        </p:nvSpPr>
        <p:spPr>
          <a:xfrm>
            <a:off x="6349841" y="3797206"/>
            <a:ext cx="88898" cy="88899"/>
          </a:xfrm>
          <a:prstGeom prst="ellipse">
            <a:avLst/>
          </a:prstGeom>
          <a:solidFill>
            <a:srgbClr val="8B5CF6"/>
          </a:solidFill>
          <a:ln/>
        </p:spPr>
      </p:sp>
      <p:sp>
        <p:nvSpPr>
          <p:cNvPr id="16" name="Shape 14"/>
          <p:cNvSpPr/>
          <p:nvPr/>
        </p:nvSpPr>
        <p:spPr>
          <a:xfrm>
            <a:off x="6349841" y="4521088"/>
            <a:ext cx="88898" cy="88896"/>
          </a:xfrm>
          <a:prstGeom prst="ellipse">
            <a:avLst/>
          </a:prstGeom>
          <a:solidFill>
            <a:srgbClr val="8B5CF6"/>
          </a:solidFill>
          <a:ln/>
        </p:spPr>
      </p:sp>
      <p:sp>
        <p:nvSpPr>
          <p:cNvPr id="17" name="Text 15"/>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6EE"/>
        </a:solidFill>
        <a:effectLst/>
      </p:bgPr>
    </p:bg>
    <p:spTree>
      <p:nvGrpSpPr>
        <p:cNvPr id="1" name=""/>
        <p:cNvGrpSpPr/>
        <p:nvPr/>
      </p:nvGrpSpPr>
      <p:grpSpPr>
        <a:xfrm>
          <a:off x="0" y="0"/>
          <a:ext cx="0" cy="0"/>
          <a:chOff x="0" y="0"/>
          <a:chExt cx="0" cy="0"/>
        </a:xfrm>
      </p:grpSpPr>
      <p:sp>
        <p:nvSpPr>
          <p:cNvPr id="2" name="Shape 0"/>
          <p:cNvSpPr/>
          <p:nvPr/>
        </p:nvSpPr>
        <p:spPr>
          <a:xfrm>
            <a:off x="7289617" y="6562873"/>
            <a:ext cx="1355057" cy="218754"/>
          </a:xfrm>
          <a:prstGeom prst="rect">
            <a:avLst/>
          </a:prstGeom>
          <a:solidFill>
            <a:srgbClr val="000000">
              <a:alpha val="60000"/>
            </a:srgbClr>
          </a:solidFill>
          <a:ln/>
        </p:spPr>
      </p:sp>
      <p:sp>
        <p:nvSpPr>
          <p:cNvPr id="3" name="Text 1"/>
          <p:cNvSpPr/>
          <p:nvPr/>
        </p:nvSpPr>
        <p:spPr>
          <a:xfrm>
            <a:off x="1226789" y="1480937"/>
            <a:ext cx="5490073" cy="243203"/>
          </a:xfrm>
          <a:prstGeom prst="rect">
            <a:avLst/>
          </a:prstGeom>
          <a:noFill/>
          <a:ln/>
        </p:spPr>
        <p:txBody>
          <a:bodyPr wrap="square" lIns="1016" tIns="1016" rIns="1016" bIns="1016" rtlCol="0" anchor="t"/>
          <a:lstStyle/>
          <a:p>
            <a:pPr marL="0" indent="0">
              <a:lnSpc>
                <a:spcPct val="127742"/>
              </a:lnSpc>
              <a:buNone/>
            </a:pPr>
            <a:r>
              <a:rPr lang="en-US" sz="1400" b="1" dirty="0">
                <a:solidFill>
                  <a:srgbClr val="0F172A"/>
                </a:solidFill>
                <a:latin typeface="Segoe UI" pitchFamily="34" charset="0"/>
                <a:ea typeface="Segoe UI" pitchFamily="34" charset="-122"/>
                <a:cs typeface="Segoe UI" pitchFamily="34" charset="-120"/>
              </a:rPr>
              <a:t>Revenue by Gender Analysis
</a:t>
            </a:r>
            <a:endParaRPr lang="en-US" sz="1400" dirty="0"/>
          </a:p>
        </p:txBody>
      </p:sp>
      <p:sp>
        <p:nvSpPr>
          <p:cNvPr id="4" name="Text 2"/>
          <p:cNvSpPr/>
          <p:nvPr/>
        </p:nvSpPr>
        <p:spPr>
          <a:xfrm>
            <a:off x="1226789" y="1772718"/>
            <a:ext cx="5490073" cy="740550"/>
          </a:xfrm>
          <a:prstGeom prst="rect">
            <a:avLst/>
          </a:prstGeom>
          <a:noFill/>
          <a:ln/>
        </p:spPr>
        <p:txBody>
          <a:bodyPr wrap="square" lIns="1016" tIns="1016" rIns="1016" bIns="1016" rtlCol="0" anchor="t"/>
          <a:lstStyle/>
          <a:p>
            <a:pPr marL="0" indent="0">
              <a:lnSpc>
                <a:spcPct val="149605"/>
              </a:lnSpc>
              <a:buNone/>
            </a:pPr>
            <a:r>
              <a:rPr lang="en-US" sz="1200" dirty="0">
                <a:solidFill>
                  <a:srgbClr val="475569"/>
                </a:solidFill>
                <a:latin typeface="Segoe UI" pitchFamily="34" charset="0"/>
                <a:ea typeface="Segoe UI" pitchFamily="34" charset="-122"/>
                <a:cs typeface="Segoe UI" pitchFamily="34" charset="-120"/>
              </a:rPr>
              <a:t>Analyzed total revenue generated by male and female customers, revealing that female customers contributed 60% of total sales, indicating a strong market segment.
</a:t>
            </a:r>
            <a:endParaRPr lang="en-US" sz="1200" dirty="0"/>
          </a:p>
        </p:txBody>
      </p:sp>
      <p:sp>
        <p:nvSpPr>
          <p:cNvPr id="5" name="Text 3"/>
          <p:cNvSpPr/>
          <p:nvPr/>
        </p:nvSpPr>
        <p:spPr>
          <a:xfrm>
            <a:off x="1226789" y="2728204"/>
            <a:ext cx="5490073" cy="243203"/>
          </a:xfrm>
          <a:prstGeom prst="rect">
            <a:avLst/>
          </a:prstGeom>
          <a:noFill/>
          <a:ln/>
        </p:spPr>
        <p:txBody>
          <a:bodyPr wrap="square" lIns="1016" tIns="1016" rIns="1016" bIns="1016" rtlCol="0" anchor="t"/>
          <a:lstStyle/>
          <a:p>
            <a:pPr marL="0" indent="0">
              <a:lnSpc>
                <a:spcPct val="127742"/>
              </a:lnSpc>
              <a:buNone/>
            </a:pPr>
            <a:r>
              <a:rPr lang="en-US" sz="1400" b="1" dirty="0">
                <a:solidFill>
                  <a:srgbClr val="0F172A"/>
                </a:solidFill>
                <a:latin typeface="Segoe UI" pitchFamily="34" charset="0"/>
                <a:ea typeface="Segoe UI" pitchFamily="34" charset="-122"/>
                <a:cs typeface="Segoe UI" pitchFamily="34" charset="-120"/>
              </a:rPr>
              <a:t>Discount Policy Review
</a:t>
            </a:r>
            <a:endParaRPr lang="en-US" sz="1400" dirty="0"/>
          </a:p>
        </p:txBody>
      </p:sp>
      <p:sp>
        <p:nvSpPr>
          <p:cNvPr id="6" name="Text 4"/>
          <p:cNvSpPr/>
          <p:nvPr/>
        </p:nvSpPr>
        <p:spPr>
          <a:xfrm>
            <a:off x="1226789" y="3019986"/>
            <a:ext cx="5490073" cy="740550"/>
          </a:xfrm>
          <a:prstGeom prst="rect">
            <a:avLst/>
          </a:prstGeom>
          <a:noFill/>
          <a:ln/>
        </p:spPr>
        <p:txBody>
          <a:bodyPr wrap="square" lIns="1016" tIns="1016" rIns="1016" bIns="1016" rtlCol="0" anchor="t"/>
          <a:lstStyle/>
          <a:p>
            <a:pPr marL="0" indent="0">
              <a:lnSpc>
                <a:spcPct val="149605"/>
              </a:lnSpc>
              <a:buNone/>
            </a:pPr>
            <a:r>
              <a:rPr lang="en-US" sz="1200" dirty="0">
                <a:solidFill>
                  <a:srgbClr val="475569"/>
                </a:solidFill>
                <a:latin typeface="Segoe UI" pitchFamily="34" charset="0"/>
                <a:ea typeface="Segoe UI" pitchFamily="34" charset="-122"/>
                <a:cs typeface="Segoe UI" pitchFamily="34" charset="-120"/>
              </a:rPr>
              <a:t>Reviewed discount policies to balance sales boosts with margin control, resulting in a 15% increase in profit margins while maintaining customer satisfaction.
</a:t>
            </a:r>
            <a:endParaRPr lang="en-US" sz="1200" dirty="0"/>
          </a:p>
        </p:txBody>
      </p:sp>
      <p:sp>
        <p:nvSpPr>
          <p:cNvPr id="7" name="Text 5"/>
          <p:cNvSpPr/>
          <p:nvPr/>
        </p:nvSpPr>
        <p:spPr>
          <a:xfrm>
            <a:off x="1226789" y="3975472"/>
            <a:ext cx="5490073" cy="243203"/>
          </a:xfrm>
          <a:prstGeom prst="rect">
            <a:avLst/>
          </a:prstGeom>
          <a:noFill/>
          <a:ln/>
        </p:spPr>
        <p:txBody>
          <a:bodyPr wrap="square" lIns="1016" tIns="1016" rIns="1016" bIns="1016" rtlCol="0" anchor="t"/>
          <a:lstStyle/>
          <a:p>
            <a:pPr marL="0" indent="0">
              <a:lnSpc>
                <a:spcPct val="127742"/>
              </a:lnSpc>
              <a:buNone/>
            </a:pPr>
            <a:r>
              <a:rPr lang="en-US" sz="1400" b="1" dirty="0">
                <a:solidFill>
                  <a:srgbClr val="0F172A"/>
                </a:solidFill>
                <a:latin typeface="Segoe UI" pitchFamily="34" charset="0"/>
                <a:ea typeface="Segoe UI" pitchFamily="34" charset="-122"/>
                <a:cs typeface="Segoe UI" pitchFamily="34" charset="-120"/>
              </a:rPr>
              <a:t>Top-Rated Products Identification
</a:t>
            </a:r>
            <a:endParaRPr lang="en-US" sz="1400" dirty="0"/>
          </a:p>
        </p:txBody>
      </p:sp>
      <p:sp>
        <p:nvSpPr>
          <p:cNvPr id="8" name="Text 6"/>
          <p:cNvSpPr/>
          <p:nvPr/>
        </p:nvSpPr>
        <p:spPr>
          <a:xfrm>
            <a:off x="1226789" y="4267253"/>
            <a:ext cx="5490073" cy="740550"/>
          </a:xfrm>
          <a:prstGeom prst="rect">
            <a:avLst/>
          </a:prstGeom>
          <a:noFill/>
          <a:ln/>
        </p:spPr>
        <p:txBody>
          <a:bodyPr wrap="square" lIns="1016" tIns="1016" rIns="1016" bIns="1016" rtlCol="0" anchor="t"/>
          <a:lstStyle/>
          <a:p>
            <a:pPr marL="0" indent="0">
              <a:lnSpc>
                <a:spcPct val="149605"/>
              </a:lnSpc>
              <a:buNone/>
            </a:pPr>
            <a:r>
              <a:rPr lang="en-US" sz="1200" dirty="0">
                <a:solidFill>
                  <a:srgbClr val="475569"/>
                </a:solidFill>
                <a:latin typeface="Segoe UI" pitchFamily="34" charset="0"/>
                <a:ea typeface="Segoe UI" pitchFamily="34" charset="-122"/>
                <a:cs typeface="Segoe UI" pitchFamily="34" charset="-120"/>
              </a:rPr>
              <a:t>Identified top-rated products with an average rating above 4.5, which should be highlighted in marketing campaigns to drive sales and customer engagement.
</a:t>
            </a:r>
            <a:endParaRPr lang="en-US" sz="1200" dirty="0"/>
          </a:p>
        </p:txBody>
      </p:sp>
      <p:sp>
        <p:nvSpPr>
          <p:cNvPr id="9" name="Text 7"/>
          <p:cNvSpPr/>
          <p:nvPr/>
        </p:nvSpPr>
        <p:spPr>
          <a:xfrm>
            <a:off x="1226789" y="5222739"/>
            <a:ext cx="5490073" cy="243203"/>
          </a:xfrm>
          <a:prstGeom prst="rect">
            <a:avLst/>
          </a:prstGeom>
          <a:noFill/>
          <a:ln/>
        </p:spPr>
        <p:txBody>
          <a:bodyPr wrap="square" lIns="1016" tIns="1016" rIns="1016" bIns="1016" rtlCol="0" anchor="t"/>
          <a:lstStyle/>
          <a:p>
            <a:pPr marL="0" indent="0">
              <a:lnSpc>
                <a:spcPct val="127742"/>
              </a:lnSpc>
              <a:buNone/>
            </a:pPr>
            <a:r>
              <a:rPr lang="en-US" sz="1400" b="1" dirty="0">
                <a:solidFill>
                  <a:srgbClr val="0F172A"/>
                </a:solidFill>
                <a:latin typeface="Segoe UI" pitchFamily="34" charset="0"/>
                <a:ea typeface="Segoe UI" pitchFamily="34" charset="-122"/>
                <a:cs typeface="Segoe UI" pitchFamily="34" charset="-120"/>
              </a:rPr>
              <a:t>Targeted Marketing Strategies
</a:t>
            </a:r>
            <a:endParaRPr lang="en-US" sz="1400" dirty="0"/>
          </a:p>
        </p:txBody>
      </p:sp>
      <p:sp>
        <p:nvSpPr>
          <p:cNvPr id="10" name="Text 8"/>
          <p:cNvSpPr/>
          <p:nvPr/>
        </p:nvSpPr>
        <p:spPr>
          <a:xfrm>
            <a:off x="1226789" y="5514521"/>
            <a:ext cx="5490073" cy="740550"/>
          </a:xfrm>
          <a:prstGeom prst="rect">
            <a:avLst/>
          </a:prstGeom>
          <a:noFill/>
          <a:ln/>
        </p:spPr>
        <p:txBody>
          <a:bodyPr wrap="square" lIns="1016" tIns="1016" rIns="1016" bIns="1016" rtlCol="0" anchor="t"/>
          <a:lstStyle/>
          <a:p>
            <a:pPr marL="0" indent="0">
              <a:lnSpc>
                <a:spcPct val="149605"/>
              </a:lnSpc>
              <a:buNone/>
            </a:pPr>
            <a:r>
              <a:rPr lang="en-US" sz="1200" dirty="0">
                <a:solidFill>
                  <a:srgbClr val="475569"/>
                </a:solidFill>
                <a:latin typeface="Segoe UI" pitchFamily="34" charset="0"/>
                <a:ea typeface="Segoe UI" pitchFamily="34" charset="-122"/>
                <a:cs typeface="Segoe UI" pitchFamily="34" charset="-120"/>
              </a:rPr>
              <a:t>Focused marketing efforts on high-revenue age groups, particularly those aged 25-34, who accounted for 40% of total purchases in the last quarter.
</a:t>
            </a:r>
            <a:endParaRPr lang="en-US" sz="1200" dirty="0"/>
          </a:p>
        </p:txBody>
      </p:sp>
      <p:sp>
        <p:nvSpPr>
          <p:cNvPr id="11" name="Text 9"/>
          <p:cNvSpPr/>
          <p:nvPr/>
        </p:nvSpPr>
        <p:spPr>
          <a:xfrm>
            <a:off x="7362481" y="6587162"/>
            <a:ext cx="1209328" cy="170178"/>
          </a:xfrm>
          <a:prstGeom prst="rect">
            <a:avLst/>
          </a:prstGeom>
          <a:noFill/>
          <a:ln/>
        </p:spPr>
        <p:txBody>
          <a:bodyPr wrap="square" lIns="1016" tIns="1016" rIns="1016" bIns="1016" rtlCol="0" anchor="t"/>
          <a:lstStyle/>
          <a:p>
            <a:pPr marL="0" indent="0">
              <a:lnSpc>
                <a:spcPct val="134129"/>
              </a:lnSpc>
              <a:buNone/>
            </a:pPr>
            <a:r>
              <a:rPr lang="en-US" sz="900" dirty="0">
                <a:solidFill>
                  <a:srgbClr val="FFFFFF"/>
                </a:solidFill>
                <a:latin typeface="Segoe UI" pitchFamily="34" charset="0"/>
                <a:ea typeface="Segoe UI" pitchFamily="34" charset="-122"/>
                <a:cs typeface="Segoe UI" pitchFamily="34" charset="-120"/>
              </a:rPr>
              <a:t>Photo by Deng Xiang
</a:t>
            </a:r>
            <a:endParaRPr lang="en-US" sz="900" dirty="0"/>
          </a:p>
        </p:txBody>
      </p:sp>
      <p:sp>
        <p:nvSpPr>
          <p:cNvPr id="12" name="Text 10"/>
          <p:cNvSpPr/>
          <p:nvPr/>
        </p:nvSpPr>
        <p:spPr>
          <a:xfrm>
            <a:off x="681338" y="592600"/>
            <a:ext cx="6045684" cy="379562"/>
          </a:xfrm>
          <a:prstGeom prst="rect">
            <a:avLst/>
          </a:prstGeom>
          <a:noFill/>
          <a:ln/>
        </p:spPr>
        <p:txBody>
          <a:bodyPr wrap="square" lIns="1016" tIns="1016" rIns="1016" bIns="1016" rtlCol="0" anchor="t"/>
          <a:lstStyle/>
          <a:p>
            <a:pPr marL="0" indent="0">
              <a:lnSpc>
                <a:spcPct val="119566"/>
              </a:lnSpc>
              <a:buNone/>
            </a:pPr>
            <a:r>
              <a:rPr lang="en-US" sz="2300" b="1" dirty="0">
                <a:solidFill>
                  <a:srgbClr val="0F172A"/>
                </a:solidFill>
                <a:latin typeface="Segoe UI" pitchFamily="34" charset="0"/>
                <a:ea typeface="Segoe UI" pitchFamily="34" charset="-122"/>
                <a:cs typeface="Segoe UI" pitchFamily="34" charset="-120"/>
              </a:rPr>
              <a:t>Key Findings from SQL Analysis
</a:t>
            </a:r>
            <a:endParaRPr lang="en-US" sz="2300" dirty="0"/>
          </a:p>
        </p:txBody>
      </p:sp>
      <p:sp>
        <p:nvSpPr>
          <p:cNvPr id="13" name="Shape 11"/>
          <p:cNvSpPr/>
          <p:nvPr/>
        </p:nvSpPr>
        <p:spPr>
          <a:xfrm>
            <a:off x="681338" y="1191071"/>
            <a:ext cx="632603" cy="60798"/>
          </a:xfrm>
          <a:prstGeom prst="ellipse">
            <a:avLst/>
          </a:prstGeom>
          <a:solidFill>
            <a:srgbClr val="7C3AED"/>
          </a:solidFill>
          <a:ln/>
        </p:spPr>
      </p:sp>
      <p:sp>
        <p:nvSpPr>
          <p:cNvPr id="14" name="Shape 12"/>
          <p:cNvSpPr/>
          <p:nvPr/>
        </p:nvSpPr>
        <p:spPr>
          <a:xfrm>
            <a:off x="681338" y="1483482"/>
            <a:ext cx="364957" cy="364959"/>
          </a:xfrm>
          <a:prstGeom prst="ellipse">
            <a:avLst/>
          </a:prstGeom>
          <a:solidFill>
            <a:srgbClr val="7C3AED">
              <a:alpha val="12000"/>
            </a:srgbClr>
          </a:solidFill>
          <a:ln/>
        </p:spPr>
      </p:sp>
      <p:pic>
        <p:nvPicPr>
          <p:cNvPr id="1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6426" y="1568567"/>
            <a:ext cx="194623" cy="194623"/>
          </a:xfrm>
          <a:prstGeom prst="rect">
            <a:avLst/>
          </a:prstGeom>
        </p:spPr>
      </p:pic>
      <p:sp>
        <p:nvSpPr>
          <p:cNvPr id="16" name="Shape 13"/>
          <p:cNvSpPr/>
          <p:nvPr/>
        </p:nvSpPr>
        <p:spPr>
          <a:xfrm>
            <a:off x="681338" y="2730749"/>
            <a:ext cx="364957" cy="364959"/>
          </a:xfrm>
          <a:prstGeom prst="ellipse">
            <a:avLst/>
          </a:prstGeom>
          <a:solidFill>
            <a:srgbClr val="7C3AED">
              <a:alpha val="12000"/>
            </a:srgbClr>
          </a:solidFill>
          <a:ln/>
        </p:spPr>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6426" y="2815834"/>
            <a:ext cx="194623" cy="194623"/>
          </a:xfrm>
          <a:prstGeom prst="rect">
            <a:avLst/>
          </a:prstGeom>
        </p:spPr>
      </p:pic>
      <p:sp>
        <p:nvSpPr>
          <p:cNvPr id="18" name="Shape 14"/>
          <p:cNvSpPr/>
          <p:nvPr/>
        </p:nvSpPr>
        <p:spPr>
          <a:xfrm>
            <a:off x="681338" y="3978017"/>
            <a:ext cx="364957" cy="364959"/>
          </a:xfrm>
          <a:prstGeom prst="ellipse">
            <a:avLst/>
          </a:prstGeom>
          <a:solidFill>
            <a:srgbClr val="7C3AED">
              <a:alpha val="12000"/>
            </a:srgbClr>
          </a:solidFill>
          <a:ln/>
        </p:spPr>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426" y="4063102"/>
            <a:ext cx="194623" cy="194623"/>
          </a:xfrm>
          <a:prstGeom prst="rect">
            <a:avLst/>
          </a:prstGeom>
        </p:spPr>
      </p:pic>
      <p:sp>
        <p:nvSpPr>
          <p:cNvPr id="20" name="Shape 15"/>
          <p:cNvSpPr/>
          <p:nvPr/>
        </p:nvSpPr>
        <p:spPr>
          <a:xfrm>
            <a:off x="681338" y="5225284"/>
            <a:ext cx="364957" cy="364959"/>
          </a:xfrm>
          <a:prstGeom prst="ellipse">
            <a:avLst/>
          </a:prstGeom>
          <a:solidFill>
            <a:srgbClr val="7C3AED">
              <a:alpha val="12000"/>
            </a:srgbClr>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426" y="5310369"/>
            <a:ext cx="194623" cy="194623"/>
          </a:xfrm>
          <a:prstGeom prst="rect">
            <a:avLst/>
          </a:prstGeom>
        </p:spPr>
      </p:pic>
      <p:sp>
        <p:nvSpPr>
          <p:cNvPr id="22" name="Shape 16"/>
          <p:cNvSpPr/>
          <p:nvPr/>
        </p:nvSpPr>
        <p:spPr>
          <a:xfrm>
            <a:off x="7140554" y="0"/>
            <a:ext cx="72864" cy="6812280"/>
          </a:xfrm>
          <a:prstGeom prst="rect">
            <a:avLst/>
          </a:prstGeom>
          <a:solidFill>
            <a:srgbClr val="7C3AED"/>
          </a:solidFill>
          <a:ln/>
        </p:spPr>
      </p:sp>
      <p:pic>
        <p:nvPicPr>
          <p:cNvPr id="23" name="Image 4" descr="preencoded.png"/>
          <p:cNvPicPr>
            <a:picLocks noChangeAspect="1"/>
          </p:cNvPicPr>
          <p:nvPr/>
        </p:nvPicPr>
        <p:blipFill>
          <a:blip r:embed="rId7"/>
          <a:srcRect/>
          <a:stretch/>
        </p:blipFill>
        <p:spPr>
          <a:xfrm>
            <a:off x="7213419" y="0"/>
            <a:ext cx="4932556" cy="6812280"/>
          </a:xfrm>
          <a:prstGeom prst="rect">
            <a:avLst/>
          </a:prstGeom>
        </p:spPr>
      </p:pic>
      <p:sp>
        <p:nvSpPr>
          <p:cNvPr id="24" name="Text 17"/>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6EE"/>
        </a:solidFill>
        <a:effectLst/>
      </p:bgPr>
    </p:bg>
    <p:spTree>
      <p:nvGrpSpPr>
        <p:cNvPr id="1" name=""/>
        <p:cNvGrpSpPr/>
        <p:nvPr/>
      </p:nvGrpSpPr>
      <p:grpSpPr>
        <a:xfrm>
          <a:off x="0" y="0"/>
          <a:ext cx="0" cy="0"/>
          <a:chOff x="0" y="0"/>
          <a:chExt cx="0" cy="0"/>
        </a:xfrm>
      </p:grpSpPr>
      <p:sp>
        <p:nvSpPr>
          <p:cNvPr id="2" name="Text 0"/>
          <p:cNvSpPr/>
          <p:nvPr/>
        </p:nvSpPr>
        <p:spPr>
          <a:xfrm>
            <a:off x="1015975" y="761981"/>
            <a:ext cx="10159746" cy="660383"/>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7C3AED"/>
                </a:solidFill>
                <a:latin typeface="Calibri" pitchFamily="34" charset="0"/>
                <a:ea typeface="Calibri" pitchFamily="34" charset="-122"/>
                <a:cs typeface="Calibri" pitchFamily="34" charset="-120"/>
              </a:rPr>
              <a:t>Revenue by Gender Comparison
</a:t>
            </a:r>
            <a:endParaRPr lang="en-US" sz="2900" dirty="0"/>
          </a:p>
        </p:txBody>
      </p:sp>
      <p:graphicFrame>
        <p:nvGraphicFramePr>
          <p:cNvPr id="3" name="Chart 0"/>
          <p:cNvGraphicFramePr/>
          <p:nvPr/>
        </p:nvGraphicFramePr>
        <p:xfrm>
          <a:off x="1015975" y="1777956"/>
          <a:ext cx="10159746" cy="4063898"/>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6EE"/>
        </a:solidFill>
        <a:effectLst/>
      </p:bgPr>
    </p:bg>
    <p:spTree>
      <p:nvGrpSpPr>
        <p:cNvPr id="1" name=""/>
        <p:cNvGrpSpPr/>
        <p:nvPr/>
      </p:nvGrpSpPr>
      <p:grpSpPr>
        <a:xfrm>
          <a:off x="0" y="0"/>
          <a:ext cx="0" cy="0"/>
          <a:chOff x="0" y="0"/>
          <a:chExt cx="0" cy="0"/>
        </a:xfrm>
      </p:grpSpPr>
      <p:sp>
        <p:nvSpPr>
          <p:cNvPr id="2" name="Shape 0"/>
          <p:cNvSpPr/>
          <p:nvPr/>
        </p:nvSpPr>
        <p:spPr>
          <a:xfrm>
            <a:off x="761981" y="1543964"/>
            <a:ext cx="5235126" cy="2103704"/>
          </a:xfrm>
          <a:prstGeom prst="roundRect">
            <a:avLst>
              <a:gd name="adj" fmla="val 9659"/>
            </a:avLst>
          </a:prstGeom>
          <a:solidFill>
            <a:srgbClr val="000000">
              <a:alpha val="0"/>
            </a:srgbClr>
          </a:solidFill>
          <a:ln w="10160">
            <a:solidFill>
              <a:srgbClr val="0F172A">
                <a:alpha val="18000"/>
              </a:srgbClr>
            </a:solidFill>
            <a:prstDash val="solid"/>
          </a:ln>
        </p:spPr>
      </p:sp>
      <p:sp>
        <p:nvSpPr>
          <p:cNvPr id="3" name="Shape 1"/>
          <p:cNvSpPr/>
          <p:nvPr/>
        </p:nvSpPr>
        <p:spPr>
          <a:xfrm>
            <a:off x="6194429" y="1543964"/>
            <a:ext cx="5235285" cy="2103704"/>
          </a:xfrm>
          <a:prstGeom prst="roundRect">
            <a:avLst>
              <a:gd name="adj" fmla="val 9659"/>
            </a:avLst>
          </a:prstGeom>
          <a:solidFill>
            <a:srgbClr val="000000">
              <a:alpha val="0"/>
            </a:srgbClr>
          </a:solidFill>
          <a:ln w="10160">
            <a:solidFill>
              <a:srgbClr val="0F172A">
                <a:alpha val="18000"/>
              </a:srgbClr>
            </a:solidFill>
            <a:prstDash val="solid"/>
          </a:ln>
        </p:spPr>
      </p:sp>
      <p:sp>
        <p:nvSpPr>
          <p:cNvPr id="4" name="Shape 2"/>
          <p:cNvSpPr/>
          <p:nvPr/>
        </p:nvSpPr>
        <p:spPr>
          <a:xfrm>
            <a:off x="761981" y="3844983"/>
            <a:ext cx="5235126" cy="2103704"/>
          </a:xfrm>
          <a:prstGeom prst="roundRect">
            <a:avLst>
              <a:gd name="adj" fmla="val 9659"/>
            </a:avLst>
          </a:prstGeom>
          <a:solidFill>
            <a:srgbClr val="000000">
              <a:alpha val="0"/>
            </a:srgbClr>
          </a:solidFill>
          <a:ln w="10160">
            <a:solidFill>
              <a:srgbClr val="0F172A">
                <a:alpha val="18000"/>
              </a:srgbClr>
            </a:solidFill>
            <a:prstDash val="solid"/>
          </a:ln>
        </p:spPr>
      </p:sp>
      <p:sp>
        <p:nvSpPr>
          <p:cNvPr id="5" name="Shape 3"/>
          <p:cNvSpPr/>
          <p:nvPr/>
        </p:nvSpPr>
        <p:spPr>
          <a:xfrm>
            <a:off x="6194429" y="3844983"/>
            <a:ext cx="5235285" cy="2103704"/>
          </a:xfrm>
          <a:prstGeom prst="roundRect">
            <a:avLst>
              <a:gd name="adj" fmla="val 9659"/>
            </a:avLst>
          </a:prstGeom>
          <a:solidFill>
            <a:srgbClr val="000000">
              <a:alpha val="0"/>
            </a:srgbClr>
          </a:solidFill>
          <a:ln w="10160">
            <a:solidFill>
              <a:srgbClr val="0F172A">
                <a:alpha val="18000"/>
              </a:srgbClr>
            </a:solidFill>
            <a:prstDash val="solid"/>
          </a:ln>
        </p:spPr>
      </p:sp>
      <p:sp>
        <p:nvSpPr>
          <p:cNvPr id="6" name="Text 4"/>
          <p:cNvSpPr/>
          <p:nvPr/>
        </p:nvSpPr>
        <p:spPr>
          <a:xfrm>
            <a:off x="1015975" y="507987"/>
            <a:ext cx="10159746"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7C3AED"/>
                </a:solidFill>
                <a:latin typeface="Segoe UI" pitchFamily="34" charset="0"/>
                <a:ea typeface="Segoe UI" pitchFamily="34" charset="-122"/>
                <a:cs typeface="Segoe UI" pitchFamily="34" charset="-120"/>
              </a:rPr>
              <a:t>Key Findings from Analysis
</a:t>
            </a:r>
            <a:endParaRPr lang="en-US" sz="2900" dirty="0"/>
          </a:p>
        </p:txBody>
      </p:sp>
      <p:sp>
        <p:nvSpPr>
          <p:cNvPr id="7" name="Text 5"/>
          <p:cNvSpPr/>
          <p:nvPr/>
        </p:nvSpPr>
        <p:spPr>
          <a:xfrm>
            <a:off x="1028992" y="2358167"/>
            <a:ext cx="4701105" cy="246852"/>
          </a:xfrm>
          <a:prstGeom prst="rect">
            <a:avLst/>
          </a:prstGeom>
          <a:noFill/>
          <a:ln/>
        </p:spPr>
        <p:txBody>
          <a:bodyPr wrap="square" lIns="1016" tIns="1016" rIns="1016" bIns="1016" rtlCol="0" anchor="t"/>
          <a:lstStyle/>
          <a:p>
            <a:pPr marL="0" indent="0">
              <a:lnSpc>
                <a:spcPct val="121453"/>
              </a:lnSpc>
              <a:buNone/>
            </a:pPr>
            <a:r>
              <a:rPr lang="en-US" sz="1400" b="1" dirty="0">
                <a:solidFill>
                  <a:srgbClr val="0F172A"/>
                </a:solidFill>
                <a:latin typeface="Segoe UI" pitchFamily="34" charset="0"/>
                <a:ea typeface="Segoe UI" pitchFamily="34" charset="-122"/>
                <a:cs typeface="Segoe UI" pitchFamily="34" charset="-120"/>
              </a:rPr>
              <a:t>High-Spending Discount Users
</a:t>
            </a:r>
            <a:endParaRPr lang="en-US" sz="1400" dirty="0"/>
          </a:p>
        </p:txBody>
      </p:sp>
      <p:sp>
        <p:nvSpPr>
          <p:cNvPr id="8" name="Text 6"/>
          <p:cNvSpPr/>
          <p:nvPr/>
        </p:nvSpPr>
        <p:spPr>
          <a:xfrm>
            <a:off x="1028992" y="2654231"/>
            <a:ext cx="4701105" cy="751027"/>
          </a:xfrm>
          <a:prstGeom prst="rect">
            <a:avLst/>
          </a:prstGeom>
          <a:noFill/>
          <a:ln/>
        </p:spPr>
        <p:txBody>
          <a:bodyPr wrap="square" lIns="1016" tIns="1016" rIns="1016" bIns="1016" rtlCol="0" anchor="t"/>
          <a:lstStyle/>
          <a:p>
            <a:pPr marL="0" indent="0">
              <a:lnSpc>
                <a:spcPct val="140884"/>
              </a:lnSpc>
              <a:buNone/>
            </a:pPr>
            <a:r>
              <a:rPr lang="en-US" sz="1300" dirty="0">
                <a:solidFill>
                  <a:srgbClr val="475569"/>
                </a:solidFill>
                <a:latin typeface="Segoe UI" pitchFamily="34" charset="0"/>
                <a:ea typeface="Segoe UI" pitchFamily="34" charset="-122"/>
                <a:cs typeface="Segoe UI" pitchFamily="34" charset="-120"/>
              </a:rPr>
              <a:t>Identified customers who frequently use discounts yet maintain high spending, making them prime candidates for loyalty programs to enhance retention.
</a:t>
            </a:r>
            <a:endParaRPr lang="en-US" sz="1300" dirty="0"/>
          </a:p>
        </p:txBody>
      </p:sp>
      <p:sp>
        <p:nvSpPr>
          <p:cNvPr id="9" name="Text 7"/>
          <p:cNvSpPr/>
          <p:nvPr/>
        </p:nvSpPr>
        <p:spPr>
          <a:xfrm>
            <a:off x="6461439" y="2358167"/>
            <a:ext cx="4701263" cy="246852"/>
          </a:xfrm>
          <a:prstGeom prst="rect">
            <a:avLst/>
          </a:prstGeom>
          <a:noFill/>
          <a:ln/>
        </p:spPr>
        <p:txBody>
          <a:bodyPr wrap="square" lIns="1016" tIns="1016" rIns="1016" bIns="1016" rtlCol="0" anchor="t"/>
          <a:lstStyle/>
          <a:p>
            <a:pPr marL="0" indent="0">
              <a:lnSpc>
                <a:spcPct val="121453"/>
              </a:lnSpc>
              <a:buNone/>
            </a:pPr>
            <a:r>
              <a:rPr lang="en-US" sz="1400" b="1" dirty="0">
                <a:solidFill>
                  <a:srgbClr val="0F172A"/>
                </a:solidFill>
                <a:latin typeface="Segoe UI" pitchFamily="34" charset="0"/>
                <a:ea typeface="Segoe UI" pitchFamily="34" charset="-122"/>
                <a:cs typeface="Segoe UI" pitchFamily="34" charset="-120"/>
              </a:rPr>
              <a:t>Top 5 Products by Rating
</a:t>
            </a:r>
            <a:endParaRPr lang="en-US" sz="1400" dirty="0"/>
          </a:p>
        </p:txBody>
      </p:sp>
      <p:sp>
        <p:nvSpPr>
          <p:cNvPr id="10" name="Text 8"/>
          <p:cNvSpPr/>
          <p:nvPr/>
        </p:nvSpPr>
        <p:spPr>
          <a:xfrm>
            <a:off x="6461439" y="2654231"/>
            <a:ext cx="4701263" cy="751027"/>
          </a:xfrm>
          <a:prstGeom prst="rect">
            <a:avLst/>
          </a:prstGeom>
          <a:noFill/>
          <a:ln/>
        </p:spPr>
        <p:txBody>
          <a:bodyPr wrap="square" lIns="1016" tIns="1016" rIns="1016" bIns="1016" rtlCol="0" anchor="t"/>
          <a:lstStyle/>
          <a:p>
            <a:pPr marL="0" indent="0">
              <a:lnSpc>
                <a:spcPct val="140884"/>
              </a:lnSpc>
              <a:buNone/>
            </a:pPr>
            <a:r>
              <a:rPr lang="en-US" sz="1300" dirty="0">
                <a:solidFill>
                  <a:srgbClr val="475569"/>
                </a:solidFill>
                <a:latin typeface="Segoe UI" pitchFamily="34" charset="0"/>
                <a:ea typeface="Segoe UI" pitchFamily="34" charset="-122"/>
                <a:cs typeface="Segoe UI" pitchFamily="34" charset="-120"/>
              </a:rPr>
              <a:t>Showcased the top five products with the highest average review ratings, which can be leveraged for targeted promotional campaigns to boost sales.
</a:t>
            </a:r>
            <a:endParaRPr lang="en-US" sz="1300" dirty="0"/>
          </a:p>
        </p:txBody>
      </p:sp>
      <p:sp>
        <p:nvSpPr>
          <p:cNvPr id="11" name="Text 9"/>
          <p:cNvSpPr/>
          <p:nvPr/>
        </p:nvSpPr>
        <p:spPr>
          <a:xfrm>
            <a:off x="1028992" y="4659194"/>
            <a:ext cx="4701105" cy="246846"/>
          </a:xfrm>
          <a:prstGeom prst="rect">
            <a:avLst/>
          </a:prstGeom>
          <a:noFill/>
          <a:ln/>
        </p:spPr>
        <p:txBody>
          <a:bodyPr wrap="square" lIns="1016" tIns="1016" rIns="1016" bIns="1016" rtlCol="0" anchor="t"/>
          <a:lstStyle/>
          <a:p>
            <a:pPr marL="0" indent="0">
              <a:lnSpc>
                <a:spcPct val="121453"/>
              </a:lnSpc>
              <a:buNone/>
            </a:pPr>
            <a:r>
              <a:rPr lang="en-US" sz="1400" b="1" dirty="0">
                <a:solidFill>
                  <a:srgbClr val="0F172A"/>
                </a:solidFill>
                <a:latin typeface="Segoe UI" pitchFamily="34" charset="0"/>
                <a:ea typeface="Segoe UI" pitchFamily="34" charset="-122"/>
                <a:cs typeface="Segoe UI" pitchFamily="34" charset="-120"/>
              </a:rPr>
              <a:t>Shipping Type Preferences
</a:t>
            </a:r>
            <a:endParaRPr lang="en-US" sz="1400" dirty="0"/>
          </a:p>
        </p:txBody>
      </p:sp>
      <p:sp>
        <p:nvSpPr>
          <p:cNvPr id="12" name="Text 10"/>
          <p:cNvSpPr/>
          <p:nvPr/>
        </p:nvSpPr>
        <p:spPr>
          <a:xfrm>
            <a:off x="1028992" y="4955257"/>
            <a:ext cx="4701105" cy="751027"/>
          </a:xfrm>
          <a:prstGeom prst="rect">
            <a:avLst/>
          </a:prstGeom>
          <a:noFill/>
          <a:ln/>
        </p:spPr>
        <p:txBody>
          <a:bodyPr wrap="square" lIns="1016" tIns="1016" rIns="1016" bIns="1016" rtlCol="0" anchor="t"/>
          <a:lstStyle/>
          <a:p>
            <a:pPr marL="0" indent="0">
              <a:lnSpc>
                <a:spcPct val="140884"/>
              </a:lnSpc>
              <a:buNone/>
            </a:pPr>
            <a:r>
              <a:rPr lang="en-US" sz="1300" dirty="0">
                <a:solidFill>
                  <a:srgbClr val="475569"/>
                </a:solidFill>
                <a:latin typeface="Segoe UI" pitchFamily="34" charset="0"/>
                <a:ea typeface="Segoe UI" pitchFamily="34" charset="-122"/>
                <a:cs typeface="Segoe UI" pitchFamily="34" charset="-120"/>
              </a:rPr>
              <a:t>Compared average purchase amounts between different shipping types, revealing customer preferences that can inform logistics and marketing strategies.
</a:t>
            </a:r>
            <a:endParaRPr lang="en-US" sz="1300" dirty="0"/>
          </a:p>
        </p:txBody>
      </p:sp>
      <p:sp>
        <p:nvSpPr>
          <p:cNvPr id="13" name="Text 11"/>
          <p:cNvSpPr/>
          <p:nvPr/>
        </p:nvSpPr>
        <p:spPr>
          <a:xfrm>
            <a:off x="6461439" y="4659194"/>
            <a:ext cx="4701263" cy="246846"/>
          </a:xfrm>
          <a:prstGeom prst="rect">
            <a:avLst/>
          </a:prstGeom>
          <a:noFill/>
          <a:ln/>
        </p:spPr>
        <p:txBody>
          <a:bodyPr wrap="square" lIns="1016" tIns="1016" rIns="1016" bIns="1016" rtlCol="0" anchor="t"/>
          <a:lstStyle/>
          <a:p>
            <a:pPr marL="0" indent="0">
              <a:lnSpc>
                <a:spcPct val="121453"/>
              </a:lnSpc>
              <a:buNone/>
            </a:pPr>
            <a:r>
              <a:rPr lang="en-US" sz="1400" b="1" dirty="0">
                <a:solidFill>
                  <a:srgbClr val="0F172A"/>
                </a:solidFill>
                <a:latin typeface="Segoe UI" pitchFamily="34" charset="0"/>
                <a:ea typeface="Segoe UI" pitchFamily="34" charset="-122"/>
                <a:cs typeface="Segoe UI" pitchFamily="34" charset="-120"/>
              </a:rPr>
              <a:t>Customer Segmentation Insights
</a:t>
            </a:r>
            <a:endParaRPr lang="en-US" sz="1400" dirty="0"/>
          </a:p>
        </p:txBody>
      </p:sp>
      <p:sp>
        <p:nvSpPr>
          <p:cNvPr id="14" name="Text 12"/>
          <p:cNvSpPr/>
          <p:nvPr/>
        </p:nvSpPr>
        <p:spPr>
          <a:xfrm>
            <a:off x="6461439" y="4955257"/>
            <a:ext cx="4701263" cy="751027"/>
          </a:xfrm>
          <a:prstGeom prst="rect">
            <a:avLst/>
          </a:prstGeom>
          <a:noFill/>
          <a:ln/>
        </p:spPr>
        <p:txBody>
          <a:bodyPr wrap="square" lIns="1016" tIns="1016" rIns="1016" bIns="1016" rtlCol="0" anchor="t"/>
          <a:lstStyle/>
          <a:p>
            <a:pPr marL="0" indent="0">
              <a:lnSpc>
                <a:spcPct val="140884"/>
              </a:lnSpc>
              <a:buNone/>
            </a:pPr>
            <a:r>
              <a:rPr lang="en-US" sz="1300" dirty="0">
                <a:solidFill>
                  <a:srgbClr val="475569"/>
                </a:solidFill>
                <a:latin typeface="Segoe UI" pitchFamily="34" charset="0"/>
                <a:ea typeface="Segoe UI" pitchFamily="34" charset="-122"/>
                <a:cs typeface="Segoe UI" pitchFamily="34" charset="-120"/>
              </a:rPr>
              <a:t>Segmented customers into New, Returning, and Loyal categories, allowing for tailored marketing strategies that address specific customer needs and behaviors.
</a:t>
            </a:r>
            <a:endParaRPr lang="en-US" sz="1300" dirty="0"/>
          </a:p>
        </p:txBody>
      </p:sp>
      <p:sp>
        <p:nvSpPr>
          <p:cNvPr id="15" name="Shape 13"/>
          <p:cNvSpPr/>
          <p:nvPr/>
        </p:nvSpPr>
        <p:spPr>
          <a:xfrm>
            <a:off x="1018832" y="1776204"/>
            <a:ext cx="419407" cy="419411"/>
          </a:xfrm>
          <a:prstGeom prst="roundRect">
            <a:avLst>
              <a:gd name="adj" fmla="val 25000"/>
            </a:avLst>
          </a:prstGeom>
          <a:solidFill>
            <a:srgbClr val="7C3AED">
              <a:alpha val="10000"/>
            </a:srgbClr>
          </a:solidFill>
          <a:ln/>
        </p:spPr>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7413" y="1874787"/>
            <a:ext cx="222086" cy="222086"/>
          </a:xfrm>
          <a:prstGeom prst="rect">
            <a:avLst/>
          </a:prstGeom>
        </p:spPr>
      </p:pic>
      <p:sp>
        <p:nvSpPr>
          <p:cNvPr id="17" name="Shape 14"/>
          <p:cNvSpPr/>
          <p:nvPr/>
        </p:nvSpPr>
        <p:spPr>
          <a:xfrm>
            <a:off x="6451280" y="1776204"/>
            <a:ext cx="419407" cy="419411"/>
          </a:xfrm>
          <a:prstGeom prst="roundRect">
            <a:avLst>
              <a:gd name="adj" fmla="val 25000"/>
            </a:avLst>
          </a:prstGeom>
          <a:solidFill>
            <a:srgbClr val="8B5CF6">
              <a:alpha val="10000"/>
            </a:srgbClr>
          </a:solidFill>
          <a:ln/>
        </p:spPr>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9861" y="1874787"/>
            <a:ext cx="222085" cy="222085"/>
          </a:xfrm>
          <a:prstGeom prst="rect">
            <a:avLst/>
          </a:prstGeom>
        </p:spPr>
      </p:pic>
      <p:sp>
        <p:nvSpPr>
          <p:cNvPr id="19" name="Shape 15"/>
          <p:cNvSpPr/>
          <p:nvPr/>
        </p:nvSpPr>
        <p:spPr>
          <a:xfrm>
            <a:off x="1018832" y="4077231"/>
            <a:ext cx="419407" cy="419405"/>
          </a:xfrm>
          <a:prstGeom prst="roundRect">
            <a:avLst>
              <a:gd name="adj" fmla="val 25000"/>
            </a:avLst>
          </a:prstGeom>
          <a:solidFill>
            <a:srgbClr val="7C3AED">
              <a:alpha val="10000"/>
            </a:srgbClr>
          </a:solidFill>
          <a:ln/>
        </p:spPr>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7415" y="4175812"/>
            <a:ext cx="222082" cy="222082"/>
          </a:xfrm>
          <a:prstGeom prst="rect">
            <a:avLst/>
          </a:prstGeom>
        </p:spPr>
      </p:pic>
      <p:sp>
        <p:nvSpPr>
          <p:cNvPr id="21" name="Shape 16"/>
          <p:cNvSpPr/>
          <p:nvPr/>
        </p:nvSpPr>
        <p:spPr>
          <a:xfrm>
            <a:off x="6451280" y="4077231"/>
            <a:ext cx="419407" cy="419405"/>
          </a:xfrm>
          <a:prstGeom prst="roundRect">
            <a:avLst>
              <a:gd name="adj" fmla="val 25000"/>
            </a:avLst>
          </a:prstGeom>
          <a:solidFill>
            <a:srgbClr val="7C3AED">
              <a:alpha val="10000"/>
            </a:srgbClr>
          </a:solidFill>
          <a:ln/>
        </p:spPr>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49863" y="4175812"/>
            <a:ext cx="222082" cy="222082"/>
          </a:xfrm>
          <a:prstGeom prst="rect">
            <a:avLst/>
          </a:prstGeom>
        </p:spPr>
      </p:pic>
      <p:sp>
        <p:nvSpPr>
          <p:cNvPr id="23" name="Text 17"/>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6EE"/>
        </a:solidFill>
        <a:effectLst/>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7C3AED"/>
                </a:solidFill>
                <a:latin typeface="Segoe UI" pitchFamily="34" charset="0"/>
                <a:ea typeface="Segoe UI" pitchFamily="34" charset="-122"/>
                <a:cs typeface="Segoe UI" pitchFamily="34" charset="-120"/>
              </a:rPr>
              <a:t>Customer Segmentation Strategies
</a:t>
            </a:r>
            <a:endParaRPr lang="en-US" sz="2900" dirty="0"/>
          </a:p>
        </p:txBody>
      </p:sp>
      <p:sp>
        <p:nvSpPr>
          <p:cNvPr id="3" name="Text 1"/>
          <p:cNvSpPr/>
          <p:nvPr/>
        </p:nvSpPr>
        <p:spPr>
          <a:xfrm>
            <a:off x="1597620" y="1694143"/>
            <a:ext cx="9821934" cy="253990"/>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New Customer Patterns
</a:t>
            </a:r>
            <a:endParaRPr lang="en-US" sz="1400" dirty="0"/>
          </a:p>
        </p:txBody>
      </p:sp>
      <p:sp>
        <p:nvSpPr>
          <p:cNvPr id="4" name="Text 2"/>
          <p:cNvSpPr/>
          <p:nvPr/>
        </p:nvSpPr>
        <p:spPr>
          <a:xfrm>
            <a:off x="1597620" y="1998935"/>
            <a:ext cx="9821934" cy="515605"/>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New customers typically exhibit varied buying patterns, often influenced by promotions. Understanding these behaviors can enhance targeted marketing efforts and improve conversion rates.
</a:t>
            </a:r>
            <a:endParaRPr lang="en-US" sz="1300" dirty="0"/>
          </a:p>
        </p:txBody>
      </p:sp>
      <p:sp>
        <p:nvSpPr>
          <p:cNvPr id="5" name="Text 3"/>
          <p:cNvSpPr/>
          <p:nvPr/>
        </p:nvSpPr>
        <p:spPr>
          <a:xfrm>
            <a:off x="1597620" y="2788850"/>
            <a:ext cx="9821934"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Loyal Customer Insights
</a:t>
            </a:r>
            <a:endParaRPr lang="en-US" sz="1400" dirty="0"/>
          </a:p>
        </p:txBody>
      </p:sp>
      <p:sp>
        <p:nvSpPr>
          <p:cNvPr id="6" name="Text 4"/>
          <p:cNvSpPr/>
          <p:nvPr/>
        </p:nvSpPr>
        <p:spPr>
          <a:xfrm>
            <a:off x="1597620" y="3093643"/>
            <a:ext cx="9821934" cy="515605"/>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Loyal customers demonstrate higher purchase frequency, contributing significantly to revenue. Tailoring marketing strategies to this segment can maximize retention and increase lifetime value.
</a:t>
            </a:r>
            <a:endParaRPr lang="en-US" sz="1300" dirty="0"/>
          </a:p>
        </p:txBody>
      </p:sp>
      <p:sp>
        <p:nvSpPr>
          <p:cNvPr id="7" name="Text 5"/>
          <p:cNvSpPr/>
          <p:nvPr/>
        </p:nvSpPr>
        <p:spPr>
          <a:xfrm>
            <a:off x="1597620" y="3883558"/>
            <a:ext cx="9821934"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Age Group Analysis
</a:t>
            </a:r>
            <a:endParaRPr lang="en-US" sz="1400" dirty="0"/>
          </a:p>
        </p:txBody>
      </p:sp>
      <p:sp>
        <p:nvSpPr>
          <p:cNvPr id="8" name="Text 6"/>
          <p:cNvSpPr/>
          <p:nvPr/>
        </p:nvSpPr>
        <p:spPr>
          <a:xfrm>
            <a:off x="1597620" y="4188350"/>
            <a:ext cx="9821934" cy="515611"/>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Analyzing age demographics reveals key insights for targeting. Younger customers may prefer digital engagement, while older segments might respond better to traditional marketing.
</a:t>
            </a:r>
            <a:endParaRPr lang="en-US" sz="1300" dirty="0"/>
          </a:p>
        </p:txBody>
      </p:sp>
      <p:sp>
        <p:nvSpPr>
          <p:cNvPr id="9" name="Text 7"/>
          <p:cNvSpPr/>
          <p:nvPr/>
        </p:nvSpPr>
        <p:spPr>
          <a:xfrm>
            <a:off x="1597620" y="4978281"/>
            <a:ext cx="9821934" cy="253990"/>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Segment-Based Strategies
</a:t>
            </a:r>
            <a:endParaRPr lang="en-US" sz="1400" dirty="0"/>
          </a:p>
        </p:txBody>
      </p:sp>
      <p:sp>
        <p:nvSpPr>
          <p:cNvPr id="10" name="Text 8"/>
          <p:cNvSpPr/>
          <p:nvPr/>
        </p:nvSpPr>
        <p:spPr>
          <a:xfrm>
            <a:off x="1597620" y="5283073"/>
            <a:ext cx="9821934" cy="515605"/>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Adjusting marketing strategies based on customer segments boosts engagement. Personalized campaigns can lead to higher response rates and improved customer satisfaction.
</a:t>
            </a:r>
            <a:endParaRPr lang="en-US" sz="1300" dirty="0"/>
          </a:p>
        </p:txBody>
      </p:sp>
      <p:sp>
        <p:nvSpPr>
          <p:cNvPr id="11" name="Shape 9"/>
          <p:cNvSpPr/>
          <p:nvPr/>
        </p:nvSpPr>
        <p:spPr>
          <a:xfrm>
            <a:off x="761981" y="1734772"/>
            <a:ext cx="571486" cy="444491"/>
          </a:xfrm>
          <a:prstGeom prst="rect">
            <a:avLst/>
          </a:prstGeom>
          <a:solidFill>
            <a:srgbClr val="7C3AED"/>
          </a:solidFill>
          <a:ln/>
        </p:spPr>
      </p:sp>
      <p:sp>
        <p:nvSpPr>
          <p:cNvPr id="12" name="Shape 10"/>
          <p:cNvSpPr/>
          <p:nvPr/>
        </p:nvSpPr>
        <p:spPr>
          <a:xfrm>
            <a:off x="761981" y="2829494"/>
            <a:ext cx="571486" cy="444485"/>
          </a:xfrm>
          <a:prstGeom prst="rect">
            <a:avLst/>
          </a:prstGeom>
          <a:solidFill>
            <a:srgbClr val="7C3AED"/>
          </a:solidFill>
          <a:ln/>
        </p:spPr>
      </p:sp>
      <p:sp>
        <p:nvSpPr>
          <p:cNvPr id="13" name="Shape 11"/>
          <p:cNvSpPr/>
          <p:nvPr/>
        </p:nvSpPr>
        <p:spPr>
          <a:xfrm>
            <a:off x="761981" y="3924202"/>
            <a:ext cx="571486" cy="444491"/>
          </a:xfrm>
          <a:prstGeom prst="rect">
            <a:avLst/>
          </a:prstGeom>
          <a:solidFill>
            <a:srgbClr val="8B5CF6"/>
          </a:solidFill>
          <a:ln/>
        </p:spPr>
      </p:sp>
      <p:sp>
        <p:nvSpPr>
          <p:cNvPr id="14" name="Shape 12"/>
          <p:cNvSpPr/>
          <p:nvPr/>
        </p:nvSpPr>
        <p:spPr>
          <a:xfrm>
            <a:off x="761981" y="5018910"/>
            <a:ext cx="571486" cy="444491"/>
          </a:xfrm>
          <a:prstGeom prst="rect">
            <a:avLst/>
          </a:prstGeom>
          <a:solidFill>
            <a:srgbClr val="7C3AED"/>
          </a:solidFill>
          <a:ln/>
        </p:spPr>
      </p:sp>
      <p:sp>
        <p:nvSpPr>
          <p:cNvPr id="15" name="Text 13"/>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6EE"/>
        </a:solidFill>
        <a:effectLst/>
      </p:bgPr>
    </p:bg>
    <p:spTree>
      <p:nvGrpSpPr>
        <p:cNvPr id="1" name=""/>
        <p:cNvGrpSpPr/>
        <p:nvPr/>
      </p:nvGrpSpPr>
      <p:grpSpPr>
        <a:xfrm>
          <a:off x="0" y="0"/>
          <a:ext cx="0" cy="0"/>
          <a:chOff x="0" y="0"/>
          <a:chExt cx="0" cy="0"/>
        </a:xfrm>
      </p:grpSpPr>
      <p:sp>
        <p:nvSpPr>
          <p:cNvPr id="2" name="Shape 0"/>
          <p:cNvSpPr/>
          <p:nvPr/>
        </p:nvSpPr>
        <p:spPr>
          <a:xfrm>
            <a:off x="1278699" y="1791608"/>
            <a:ext cx="4682373" cy="1752556"/>
          </a:xfrm>
          <a:prstGeom prst="roundRect">
            <a:avLst>
              <a:gd name="adj" fmla="val 11594"/>
            </a:avLst>
          </a:prstGeom>
          <a:solidFill>
            <a:srgbClr val="7C3AED">
              <a:alpha val="5000"/>
            </a:srgbClr>
          </a:solidFill>
          <a:ln w="10160">
            <a:solidFill>
              <a:srgbClr val="7C3AED">
                <a:alpha val="15000"/>
              </a:srgbClr>
            </a:solidFill>
            <a:prstDash val="solid"/>
          </a:ln>
        </p:spPr>
      </p:sp>
      <p:sp>
        <p:nvSpPr>
          <p:cNvPr id="3" name="Shape 1"/>
          <p:cNvSpPr/>
          <p:nvPr/>
        </p:nvSpPr>
        <p:spPr>
          <a:xfrm>
            <a:off x="6230623" y="1791608"/>
            <a:ext cx="4682373" cy="1752556"/>
          </a:xfrm>
          <a:prstGeom prst="roundRect">
            <a:avLst>
              <a:gd name="adj" fmla="val 11594"/>
            </a:avLst>
          </a:prstGeom>
          <a:solidFill>
            <a:srgbClr val="8B5CF6">
              <a:alpha val="5000"/>
            </a:srgbClr>
          </a:solidFill>
          <a:ln w="10160">
            <a:solidFill>
              <a:srgbClr val="8B5CF6">
                <a:alpha val="15000"/>
              </a:srgbClr>
            </a:solidFill>
            <a:prstDash val="solid"/>
          </a:ln>
        </p:spPr>
      </p:sp>
      <p:sp>
        <p:nvSpPr>
          <p:cNvPr id="4" name="Shape 2"/>
          <p:cNvSpPr/>
          <p:nvPr/>
        </p:nvSpPr>
        <p:spPr>
          <a:xfrm>
            <a:off x="1278699" y="3813715"/>
            <a:ext cx="4682373" cy="1752556"/>
          </a:xfrm>
          <a:prstGeom prst="roundRect">
            <a:avLst>
              <a:gd name="adj" fmla="val 11594"/>
            </a:avLst>
          </a:prstGeom>
          <a:solidFill>
            <a:srgbClr val="7C3AED">
              <a:alpha val="5000"/>
            </a:srgbClr>
          </a:solidFill>
          <a:ln w="10160">
            <a:solidFill>
              <a:srgbClr val="7C3AED">
                <a:alpha val="15000"/>
              </a:srgbClr>
            </a:solidFill>
            <a:prstDash val="solid"/>
          </a:ln>
        </p:spPr>
      </p:sp>
      <p:sp>
        <p:nvSpPr>
          <p:cNvPr id="5" name="Shape 3"/>
          <p:cNvSpPr/>
          <p:nvPr/>
        </p:nvSpPr>
        <p:spPr>
          <a:xfrm>
            <a:off x="6230623" y="3813715"/>
            <a:ext cx="4682373" cy="1752556"/>
          </a:xfrm>
          <a:prstGeom prst="roundRect">
            <a:avLst>
              <a:gd name="adj" fmla="val 11594"/>
            </a:avLst>
          </a:prstGeom>
          <a:solidFill>
            <a:srgbClr val="7C3AED">
              <a:alpha val="5000"/>
            </a:srgbClr>
          </a:solidFill>
          <a:ln w="10160">
            <a:solidFill>
              <a:srgbClr val="7C3AED">
                <a:alpha val="15000"/>
              </a:srgbClr>
            </a:solidFill>
            <a:prstDash val="solid"/>
          </a:ln>
        </p:spPr>
      </p:sp>
      <p:sp>
        <p:nvSpPr>
          <p:cNvPr id="6" name="Text 4"/>
          <p:cNvSpPr/>
          <p:nvPr/>
        </p:nvSpPr>
        <p:spPr>
          <a:xfrm>
            <a:off x="1015975" y="507987"/>
            <a:ext cx="10159746" cy="761981"/>
          </a:xfrm>
          <a:prstGeom prst="rect">
            <a:avLst/>
          </a:prstGeom>
          <a:noFill/>
          <a:ln/>
        </p:spPr>
        <p:txBody>
          <a:bodyPr wrap="square" lIns="1016" tIns="1016" rIns="1016" bIns="1016" rtlCol="0" anchor="t"/>
          <a:lstStyle/>
          <a:p>
            <a:pPr marL="0" indent="0" algn="l">
              <a:lnSpc>
                <a:spcPct val="130000"/>
              </a:lnSpc>
              <a:buNone/>
            </a:pPr>
            <a:r>
              <a:rPr lang="en-US" sz="2900" dirty="0">
                <a:solidFill>
                  <a:srgbClr val="7C3AED"/>
                </a:solidFill>
                <a:latin typeface="Segoe UI" pitchFamily="34" charset="0"/>
                <a:ea typeface="Segoe UI" pitchFamily="34" charset="-122"/>
                <a:cs typeface="Segoe UI" pitchFamily="34" charset="-120"/>
              </a:rPr>
              <a:t>Key Metrics &amp; Impact
</a:t>
            </a:r>
            <a:endParaRPr lang="en-US" sz="2900" dirty="0"/>
          </a:p>
        </p:txBody>
      </p:sp>
      <p:sp>
        <p:nvSpPr>
          <p:cNvPr id="7" name="Text 5"/>
          <p:cNvSpPr/>
          <p:nvPr/>
        </p:nvSpPr>
        <p:spPr>
          <a:xfrm>
            <a:off x="2726780" y="2004010"/>
            <a:ext cx="1786052" cy="667370"/>
          </a:xfrm>
          <a:prstGeom prst="rect">
            <a:avLst/>
          </a:prstGeom>
          <a:noFill/>
          <a:ln/>
        </p:spPr>
        <p:txBody>
          <a:bodyPr wrap="square" lIns="1016" tIns="1016" rIns="1016" bIns="1016" rtlCol="0" anchor="t"/>
          <a:lstStyle/>
          <a:p>
            <a:pPr marL="0" indent="0" algn="ctr">
              <a:lnSpc>
                <a:spcPct val="109485"/>
              </a:lnSpc>
              <a:buNone/>
            </a:pPr>
            <a:r>
              <a:rPr lang="en-US" sz="4300" b="1" dirty="0">
                <a:solidFill>
                  <a:srgbClr val="7C3AED"/>
                </a:solidFill>
                <a:latin typeface="Segoe UI" pitchFamily="34" charset="0"/>
                <a:ea typeface="Segoe UI" pitchFamily="34" charset="-122"/>
                <a:cs typeface="Segoe UI" pitchFamily="34" charset="-120"/>
              </a:rPr>
              <a:t>3,900
</a:t>
            </a:r>
            <a:endParaRPr lang="en-US" sz="4300" dirty="0"/>
          </a:p>
        </p:txBody>
      </p:sp>
      <p:sp>
        <p:nvSpPr>
          <p:cNvPr id="8" name="Text 6"/>
          <p:cNvSpPr/>
          <p:nvPr/>
        </p:nvSpPr>
        <p:spPr>
          <a:xfrm>
            <a:off x="2235620" y="2761228"/>
            <a:ext cx="2768372" cy="252722"/>
          </a:xfrm>
          <a:prstGeom prst="rect">
            <a:avLst/>
          </a:prstGeom>
          <a:noFill/>
          <a:ln/>
        </p:spPr>
        <p:txBody>
          <a:bodyPr wrap="square" lIns="1016" tIns="1016" rIns="1016" bIns="1016" rtlCol="0" anchor="t"/>
          <a:lstStyle/>
          <a:p>
            <a:pPr marL="0" indent="0" algn="ctr">
              <a:lnSpc>
                <a:spcPct val="124415"/>
              </a:lnSpc>
              <a:buNone/>
            </a:pPr>
            <a:r>
              <a:rPr lang="en-US" sz="1400" b="1" dirty="0">
                <a:solidFill>
                  <a:srgbClr val="0F172A"/>
                </a:solidFill>
                <a:latin typeface="Segoe UI" pitchFamily="34" charset="0"/>
                <a:ea typeface="Segoe UI" pitchFamily="34" charset="-122"/>
                <a:cs typeface="Segoe UI" pitchFamily="34" charset="-120"/>
              </a:rPr>
              <a:t>Total Transactions Analyzed
</a:t>
            </a:r>
            <a:endParaRPr lang="en-US" sz="1400" dirty="0"/>
          </a:p>
        </p:txBody>
      </p:sp>
      <p:sp>
        <p:nvSpPr>
          <p:cNvPr id="9" name="Text 7"/>
          <p:cNvSpPr/>
          <p:nvPr/>
        </p:nvSpPr>
        <p:spPr>
          <a:xfrm>
            <a:off x="1491101" y="3103807"/>
            <a:ext cx="4257410" cy="227957"/>
          </a:xfrm>
          <a:prstGeom prst="rect">
            <a:avLst/>
          </a:prstGeom>
          <a:noFill/>
          <a:ln/>
        </p:spPr>
        <p:txBody>
          <a:bodyPr wrap="square" lIns="1016" tIns="1016" rIns="1016" bIns="1016" rtlCol="0" anchor="t"/>
          <a:lstStyle/>
          <a:p>
            <a:pPr marL="0" indent="0" algn="ctr">
              <a:lnSpc>
                <a:spcPct val="149667"/>
              </a:lnSpc>
              <a:buNone/>
            </a:pPr>
            <a:r>
              <a:rPr lang="en-US" sz="1100" dirty="0">
                <a:solidFill>
                  <a:srgbClr val="475569"/>
                </a:solidFill>
                <a:latin typeface="Segoe UI" pitchFamily="34" charset="0"/>
                <a:ea typeface="Segoe UI" pitchFamily="34" charset="-122"/>
                <a:cs typeface="Segoe UI" pitchFamily="34" charset="-120"/>
              </a:rPr>
              <a:t>Providing comprehensive insights into customer behavior
</a:t>
            </a:r>
            <a:endParaRPr lang="en-US" sz="1100" dirty="0"/>
          </a:p>
        </p:txBody>
      </p:sp>
      <p:sp>
        <p:nvSpPr>
          <p:cNvPr id="10" name="Text 8"/>
          <p:cNvSpPr/>
          <p:nvPr/>
        </p:nvSpPr>
        <p:spPr>
          <a:xfrm>
            <a:off x="7883962" y="2004010"/>
            <a:ext cx="1375693" cy="667370"/>
          </a:xfrm>
          <a:prstGeom prst="rect">
            <a:avLst/>
          </a:prstGeom>
          <a:noFill/>
          <a:ln/>
        </p:spPr>
        <p:txBody>
          <a:bodyPr wrap="square" lIns="1016" tIns="1016" rIns="1016" bIns="1016" rtlCol="0" anchor="t"/>
          <a:lstStyle/>
          <a:p>
            <a:pPr marL="0" indent="0" algn="ctr">
              <a:lnSpc>
                <a:spcPct val="109485"/>
              </a:lnSpc>
              <a:buNone/>
            </a:pPr>
            <a:r>
              <a:rPr lang="en-US" sz="4300" b="1" dirty="0">
                <a:solidFill>
                  <a:srgbClr val="8B5CF6"/>
                </a:solidFill>
                <a:latin typeface="Segoe UI" pitchFamily="34" charset="0"/>
                <a:ea typeface="Segoe UI" pitchFamily="34" charset="-122"/>
                <a:cs typeface="Segoe UI" pitchFamily="34" charset="-120"/>
              </a:rPr>
              <a:t>25%
</a:t>
            </a:r>
            <a:endParaRPr lang="en-US" sz="4300" dirty="0"/>
          </a:p>
        </p:txBody>
      </p:sp>
      <p:sp>
        <p:nvSpPr>
          <p:cNvPr id="11" name="Text 9"/>
          <p:cNvSpPr/>
          <p:nvPr/>
        </p:nvSpPr>
        <p:spPr>
          <a:xfrm>
            <a:off x="6928788" y="2761228"/>
            <a:ext cx="3285884" cy="252722"/>
          </a:xfrm>
          <a:prstGeom prst="rect">
            <a:avLst/>
          </a:prstGeom>
          <a:noFill/>
          <a:ln/>
        </p:spPr>
        <p:txBody>
          <a:bodyPr wrap="square" lIns="1016" tIns="1016" rIns="1016" bIns="1016" rtlCol="0" anchor="t"/>
          <a:lstStyle/>
          <a:p>
            <a:pPr marL="0" indent="0" algn="ctr">
              <a:lnSpc>
                <a:spcPct val="124415"/>
              </a:lnSpc>
              <a:buNone/>
            </a:pPr>
            <a:r>
              <a:rPr lang="en-US" sz="1400" b="1" dirty="0">
                <a:solidFill>
                  <a:srgbClr val="0F172A"/>
                </a:solidFill>
                <a:latin typeface="Segoe UI" pitchFamily="34" charset="0"/>
                <a:ea typeface="Segoe UI" pitchFamily="34" charset="-122"/>
                <a:cs typeface="Segoe UI" pitchFamily="34" charset="-120"/>
              </a:rPr>
              <a:t>Sales Revenue from Top Products
</a:t>
            </a:r>
            <a:endParaRPr lang="en-US" sz="1400" dirty="0"/>
          </a:p>
        </p:txBody>
      </p:sp>
      <p:sp>
        <p:nvSpPr>
          <p:cNvPr id="12" name="Text 10"/>
          <p:cNvSpPr/>
          <p:nvPr/>
        </p:nvSpPr>
        <p:spPr>
          <a:xfrm>
            <a:off x="6684002" y="3103807"/>
            <a:ext cx="3775456" cy="227957"/>
          </a:xfrm>
          <a:prstGeom prst="rect">
            <a:avLst/>
          </a:prstGeom>
          <a:noFill/>
          <a:ln/>
        </p:spPr>
        <p:txBody>
          <a:bodyPr wrap="square" lIns="1016" tIns="1016" rIns="1016" bIns="1016" rtlCol="0" anchor="t"/>
          <a:lstStyle/>
          <a:p>
            <a:pPr marL="0" indent="0" algn="ctr">
              <a:lnSpc>
                <a:spcPct val="149667"/>
              </a:lnSpc>
              <a:buNone/>
            </a:pPr>
            <a:r>
              <a:rPr lang="en-US" sz="1100" dirty="0">
                <a:solidFill>
                  <a:srgbClr val="475569"/>
                </a:solidFill>
                <a:latin typeface="Segoe UI" pitchFamily="34" charset="0"/>
                <a:ea typeface="Segoe UI" pitchFamily="34" charset="-122"/>
                <a:cs typeface="Segoe UI" pitchFamily="34" charset="-120"/>
              </a:rPr>
              <a:t>Indicating a strong focus on high-performing items
</a:t>
            </a:r>
            <a:endParaRPr lang="en-US" sz="1100" dirty="0"/>
          </a:p>
        </p:txBody>
      </p:sp>
      <p:sp>
        <p:nvSpPr>
          <p:cNvPr id="13" name="Text 11"/>
          <p:cNvSpPr/>
          <p:nvPr/>
        </p:nvSpPr>
        <p:spPr>
          <a:xfrm>
            <a:off x="2949660" y="4026117"/>
            <a:ext cx="1340451" cy="667370"/>
          </a:xfrm>
          <a:prstGeom prst="rect">
            <a:avLst/>
          </a:prstGeom>
          <a:noFill/>
          <a:ln/>
        </p:spPr>
        <p:txBody>
          <a:bodyPr wrap="square" lIns="1016" tIns="1016" rIns="1016" bIns="1016" rtlCol="0" anchor="t"/>
          <a:lstStyle/>
          <a:p>
            <a:pPr marL="0" indent="0" algn="ctr">
              <a:lnSpc>
                <a:spcPct val="109485"/>
              </a:lnSpc>
              <a:buNone/>
            </a:pPr>
            <a:r>
              <a:rPr lang="en-US" sz="4300" b="1" dirty="0">
                <a:solidFill>
                  <a:srgbClr val="7C3AED"/>
                </a:solidFill>
                <a:latin typeface="Segoe UI" pitchFamily="34" charset="0"/>
                <a:ea typeface="Segoe UI" pitchFamily="34" charset="-122"/>
                <a:cs typeface="Segoe UI" pitchFamily="34" charset="-120"/>
              </a:rPr>
              <a:t>75%
</a:t>
            </a:r>
            <a:endParaRPr lang="en-US" sz="4300" dirty="0"/>
          </a:p>
        </p:txBody>
      </p:sp>
      <p:sp>
        <p:nvSpPr>
          <p:cNvPr id="14" name="Text 12"/>
          <p:cNvSpPr/>
          <p:nvPr/>
        </p:nvSpPr>
        <p:spPr>
          <a:xfrm>
            <a:off x="1787798" y="4783335"/>
            <a:ext cx="3664176" cy="252722"/>
          </a:xfrm>
          <a:prstGeom prst="rect">
            <a:avLst/>
          </a:prstGeom>
          <a:noFill/>
          <a:ln/>
        </p:spPr>
        <p:txBody>
          <a:bodyPr wrap="square" lIns="1016" tIns="1016" rIns="1016" bIns="1016" rtlCol="0" anchor="t"/>
          <a:lstStyle/>
          <a:p>
            <a:pPr marL="0" indent="0" algn="ctr">
              <a:lnSpc>
                <a:spcPct val="124415"/>
              </a:lnSpc>
              <a:buNone/>
            </a:pPr>
            <a:r>
              <a:rPr lang="en-US" sz="1400" b="1" dirty="0">
                <a:solidFill>
                  <a:srgbClr val="0F172A"/>
                </a:solidFill>
                <a:latin typeface="Segoe UI" pitchFamily="34" charset="0"/>
                <a:ea typeface="Segoe UI" pitchFamily="34" charset="-122"/>
                <a:cs typeface="Segoe UI" pitchFamily="34" charset="-120"/>
              </a:rPr>
              <a:t>Purchases from Returning Customers
</a:t>
            </a:r>
            <a:endParaRPr lang="en-US" sz="1400" dirty="0"/>
          </a:p>
        </p:txBody>
      </p:sp>
      <p:sp>
        <p:nvSpPr>
          <p:cNvPr id="15" name="Text 13"/>
          <p:cNvSpPr/>
          <p:nvPr/>
        </p:nvSpPr>
        <p:spPr>
          <a:xfrm>
            <a:off x="2024647" y="5125914"/>
            <a:ext cx="3190319" cy="227957"/>
          </a:xfrm>
          <a:prstGeom prst="rect">
            <a:avLst/>
          </a:prstGeom>
          <a:noFill/>
          <a:ln/>
        </p:spPr>
        <p:txBody>
          <a:bodyPr wrap="square" lIns="1016" tIns="1016" rIns="1016" bIns="1016" rtlCol="0" anchor="t"/>
          <a:lstStyle/>
          <a:p>
            <a:pPr marL="0" indent="0" algn="ctr">
              <a:lnSpc>
                <a:spcPct val="149667"/>
              </a:lnSpc>
              <a:buNone/>
            </a:pPr>
            <a:r>
              <a:rPr lang="en-US" sz="1100" dirty="0">
                <a:solidFill>
                  <a:srgbClr val="475569"/>
                </a:solidFill>
                <a:latin typeface="Segoe UI" pitchFamily="34" charset="0"/>
                <a:ea typeface="Segoe UI" pitchFamily="34" charset="-122"/>
                <a:cs typeface="Segoe UI" pitchFamily="34" charset="-120"/>
              </a:rPr>
              <a:t>Highlighting customer loyalty and retention
</a:t>
            </a:r>
            <a:endParaRPr lang="en-US" sz="1100" dirty="0"/>
          </a:p>
        </p:txBody>
      </p:sp>
      <p:sp>
        <p:nvSpPr>
          <p:cNvPr id="16" name="Text 14"/>
          <p:cNvSpPr/>
          <p:nvPr/>
        </p:nvSpPr>
        <p:spPr>
          <a:xfrm>
            <a:off x="7944286" y="4026117"/>
            <a:ext cx="1255046" cy="667370"/>
          </a:xfrm>
          <a:prstGeom prst="rect">
            <a:avLst/>
          </a:prstGeom>
          <a:noFill/>
          <a:ln/>
        </p:spPr>
        <p:txBody>
          <a:bodyPr wrap="square" lIns="1016" tIns="1016" rIns="1016" bIns="1016" rtlCol="0" anchor="t"/>
          <a:lstStyle/>
          <a:p>
            <a:pPr marL="0" indent="0" algn="ctr">
              <a:lnSpc>
                <a:spcPct val="109485"/>
              </a:lnSpc>
              <a:buNone/>
            </a:pPr>
            <a:r>
              <a:rPr lang="en-US" sz="4300" b="1" dirty="0">
                <a:solidFill>
                  <a:srgbClr val="7C3AED"/>
                </a:solidFill>
                <a:latin typeface="Segoe UI" pitchFamily="34" charset="0"/>
                <a:ea typeface="Segoe UI" pitchFamily="34" charset="-122"/>
                <a:cs typeface="Segoe UI" pitchFamily="34" charset="-120"/>
              </a:rPr>
              <a:t>15%
</a:t>
            </a:r>
            <a:endParaRPr lang="en-US" sz="4300" dirty="0"/>
          </a:p>
        </p:txBody>
      </p:sp>
      <p:sp>
        <p:nvSpPr>
          <p:cNvPr id="17" name="Text 15"/>
          <p:cNvSpPr/>
          <p:nvPr/>
        </p:nvSpPr>
        <p:spPr>
          <a:xfrm>
            <a:off x="6476520" y="4783335"/>
            <a:ext cx="4190578" cy="252722"/>
          </a:xfrm>
          <a:prstGeom prst="rect">
            <a:avLst/>
          </a:prstGeom>
          <a:noFill/>
          <a:ln/>
        </p:spPr>
        <p:txBody>
          <a:bodyPr wrap="square" lIns="1016" tIns="1016" rIns="1016" bIns="1016" rtlCol="0" anchor="t"/>
          <a:lstStyle/>
          <a:p>
            <a:pPr marL="0" indent="0" algn="ctr">
              <a:lnSpc>
                <a:spcPct val="124415"/>
              </a:lnSpc>
              <a:buNone/>
            </a:pPr>
            <a:r>
              <a:rPr lang="en-US" sz="1400" b="1" dirty="0">
                <a:solidFill>
                  <a:srgbClr val="0F172A"/>
                </a:solidFill>
                <a:latin typeface="Segoe UI" pitchFamily="34" charset="0"/>
                <a:ea typeface="Segoe UI" pitchFamily="34" charset="-122"/>
                <a:cs typeface="Segoe UI" pitchFamily="34" charset="-120"/>
              </a:rPr>
              <a:t>Increase in Average Spend per Transaction
</a:t>
            </a:r>
            <a:endParaRPr lang="en-US" sz="1400" dirty="0"/>
          </a:p>
        </p:txBody>
      </p:sp>
      <p:sp>
        <p:nvSpPr>
          <p:cNvPr id="18" name="Text 16"/>
          <p:cNvSpPr/>
          <p:nvPr/>
        </p:nvSpPr>
        <p:spPr>
          <a:xfrm>
            <a:off x="6936885" y="5125914"/>
            <a:ext cx="3269851" cy="227957"/>
          </a:xfrm>
          <a:prstGeom prst="rect">
            <a:avLst/>
          </a:prstGeom>
          <a:noFill/>
          <a:ln/>
        </p:spPr>
        <p:txBody>
          <a:bodyPr wrap="square" lIns="1016" tIns="1016" rIns="1016" bIns="1016" rtlCol="0" anchor="t"/>
          <a:lstStyle/>
          <a:p>
            <a:pPr marL="0" indent="0" algn="ctr">
              <a:lnSpc>
                <a:spcPct val="149667"/>
              </a:lnSpc>
              <a:buNone/>
            </a:pPr>
            <a:r>
              <a:rPr lang="en-US" sz="1100" dirty="0">
                <a:solidFill>
                  <a:srgbClr val="475569"/>
                </a:solidFill>
                <a:latin typeface="Segoe UI" pitchFamily="34" charset="0"/>
                <a:ea typeface="Segoe UI" pitchFamily="34" charset="-122"/>
                <a:cs typeface="Segoe UI" pitchFamily="34" charset="-120"/>
              </a:rPr>
              <a:t>Demonstrating effective upselling strategies
</a:t>
            </a:r>
            <a:endParaRPr lang="en-US" sz="1100" dirty="0"/>
          </a:p>
        </p:txBody>
      </p:sp>
      <p:sp>
        <p:nvSpPr>
          <p:cNvPr id="19" name="Text 17"/>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6EE"/>
        </a:solidFill>
        <a:effectLst/>
      </p:bgPr>
    </p:bg>
    <p:spTree>
      <p:nvGrpSpPr>
        <p:cNvPr id="1" name=""/>
        <p:cNvGrpSpPr/>
        <p:nvPr/>
      </p:nvGrpSpPr>
      <p:grpSpPr>
        <a:xfrm>
          <a:off x="0" y="0"/>
          <a:ext cx="0" cy="0"/>
          <a:chOff x="0" y="0"/>
          <a:chExt cx="0" cy="0"/>
        </a:xfrm>
      </p:grpSpPr>
      <p:sp>
        <p:nvSpPr>
          <p:cNvPr id="2" name="Shape 0"/>
          <p:cNvSpPr/>
          <p:nvPr/>
        </p:nvSpPr>
        <p:spPr>
          <a:xfrm>
            <a:off x="10596455" y="6553036"/>
            <a:ext cx="1519042" cy="228594"/>
          </a:xfrm>
          <a:prstGeom prst="rect">
            <a:avLst/>
          </a:prstGeom>
          <a:solidFill>
            <a:srgbClr val="000000">
              <a:alpha val="60000"/>
            </a:srgbClr>
          </a:solidFill>
          <a:ln/>
        </p:spPr>
      </p:sp>
      <p:sp>
        <p:nvSpPr>
          <p:cNvPr id="3" name="Text 1"/>
          <p:cNvSpPr/>
          <p:nvPr/>
        </p:nvSpPr>
        <p:spPr>
          <a:xfrm>
            <a:off x="599425" y="2118307"/>
            <a:ext cx="3552101"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Boost Subscriptions
</a:t>
            </a:r>
            <a:endParaRPr lang="en-US" sz="1400" dirty="0"/>
          </a:p>
        </p:txBody>
      </p:sp>
      <p:sp>
        <p:nvSpPr>
          <p:cNvPr id="4" name="Text 2"/>
          <p:cNvSpPr/>
          <p:nvPr/>
        </p:nvSpPr>
        <p:spPr>
          <a:xfrm>
            <a:off x="599425" y="2423099"/>
            <a:ext cx="3552101" cy="1031210"/>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Promote exclusive benefits for subscribers, such as discounts and early access, to increase subscription rates by an estimated 20% over the next quarter.
</a:t>
            </a:r>
            <a:endParaRPr lang="en-US" sz="1300" dirty="0"/>
          </a:p>
        </p:txBody>
      </p:sp>
      <p:sp>
        <p:nvSpPr>
          <p:cNvPr id="5" name="Text 3"/>
          <p:cNvSpPr/>
          <p:nvPr/>
        </p:nvSpPr>
        <p:spPr>
          <a:xfrm>
            <a:off x="4771270" y="2118307"/>
            <a:ext cx="3552102" cy="253996"/>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Targeted Campaigns
</a:t>
            </a:r>
            <a:endParaRPr lang="en-US" sz="1400" dirty="0"/>
          </a:p>
        </p:txBody>
      </p:sp>
      <p:sp>
        <p:nvSpPr>
          <p:cNvPr id="6" name="Text 4"/>
          <p:cNvSpPr/>
          <p:nvPr/>
        </p:nvSpPr>
        <p:spPr>
          <a:xfrm>
            <a:off x="4771270" y="2423099"/>
            <a:ext cx="3552102" cy="1031210"/>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Implement marketing campaigns focused on high-revenue age groups, particularly those aged 25-34, who contribute 35% of total sales.
</a:t>
            </a:r>
            <a:endParaRPr lang="en-US" sz="1300" dirty="0"/>
          </a:p>
        </p:txBody>
      </p:sp>
      <p:sp>
        <p:nvSpPr>
          <p:cNvPr id="7" name="Text 5"/>
          <p:cNvSpPr/>
          <p:nvPr/>
        </p:nvSpPr>
        <p:spPr>
          <a:xfrm>
            <a:off x="599425" y="4282333"/>
            <a:ext cx="3552101" cy="253990"/>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Enhance Discount Policies
</a:t>
            </a:r>
            <a:endParaRPr lang="en-US" sz="1400" dirty="0"/>
          </a:p>
        </p:txBody>
      </p:sp>
      <p:sp>
        <p:nvSpPr>
          <p:cNvPr id="8" name="Text 6"/>
          <p:cNvSpPr/>
          <p:nvPr/>
        </p:nvSpPr>
        <p:spPr>
          <a:xfrm>
            <a:off x="599425" y="4587125"/>
            <a:ext cx="3552101" cy="1031210"/>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Revise discount policies to balance sales boosts with margin control, aiming for a 10% increase in profit margins within six months.
</a:t>
            </a:r>
            <a:endParaRPr lang="en-US" sz="1300" dirty="0"/>
          </a:p>
        </p:txBody>
      </p:sp>
      <p:sp>
        <p:nvSpPr>
          <p:cNvPr id="9" name="Text 7"/>
          <p:cNvSpPr/>
          <p:nvPr/>
        </p:nvSpPr>
        <p:spPr>
          <a:xfrm>
            <a:off x="4771270" y="4282333"/>
            <a:ext cx="3552102" cy="253990"/>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Engage Loyal Customers
</a:t>
            </a:r>
            <a:endParaRPr lang="en-US" sz="1400" dirty="0"/>
          </a:p>
        </p:txBody>
      </p:sp>
      <p:sp>
        <p:nvSpPr>
          <p:cNvPr id="10" name="Text 8"/>
          <p:cNvSpPr/>
          <p:nvPr/>
        </p:nvSpPr>
        <p:spPr>
          <a:xfrm>
            <a:off x="4771270" y="4587125"/>
            <a:ext cx="3552102" cy="1031210"/>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Develop rewards programs for loyal customers, targeting those with over five purchases, to increase repeat purchases by 15% annually.
</a:t>
            </a:r>
            <a:endParaRPr lang="en-US" sz="1300" dirty="0"/>
          </a:p>
        </p:txBody>
      </p:sp>
      <p:sp>
        <p:nvSpPr>
          <p:cNvPr id="11" name="Text 9"/>
          <p:cNvSpPr/>
          <p:nvPr/>
        </p:nvSpPr>
        <p:spPr>
          <a:xfrm>
            <a:off x="10672653" y="6578433"/>
            <a:ext cx="1366646" cy="177803"/>
          </a:xfrm>
          <a:prstGeom prst="rect">
            <a:avLst/>
          </a:prstGeom>
          <a:noFill/>
          <a:ln/>
        </p:spPr>
        <p:txBody>
          <a:bodyPr wrap="square" lIns="1016" tIns="1016" rIns="1016" bIns="1016" rtlCol="0" anchor="t"/>
          <a:lstStyle/>
          <a:p>
            <a:pPr marL="0" indent="0">
              <a:lnSpc>
                <a:spcPct val="140000"/>
              </a:lnSpc>
              <a:buNone/>
            </a:pPr>
            <a:r>
              <a:rPr lang="en-US" sz="900" dirty="0">
                <a:solidFill>
                  <a:srgbClr val="FFFFFF"/>
                </a:solidFill>
                <a:latin typeface="Segoe UI" pitchFamily="34" charset="0"/>
                <a:ea typeface="Segoe UI" pitchFamily="34" charset="-122"/>
                <a:cs typeface="Segoe UI" pitchFamily="34" charset="-120"/>
              </a:rPr>
              <a:t>Photo by Jacob Padilla
</a:t>
            </a:r>
            <a:endParaRPr lang="en-US" sz="900" dirty="0"/>
          </a:p>
        </p:txBody>
      </p:sp>
      <p:sp>
        <p:nvSpPr>
          <p:cNvPr id="12" name="Text 10"/>
          <p:cNvSpPr/>
          <p:nvPr/>
        </p:nvSpPr>
        <p:spPr>
          <a:xfrm>
            <a:off x="380990" y="1066773"/>
            <a:ext cx="8140497" cy="396230"/>
          </a:xfrm>
          <a:prstGeom prst="rect">
            <a:avLst/>
          </a:prstGeom>
          <a:noFill/>
          <a:ln/>
        </p:spPr>
        <p:txBody>
          <a:bodyPr wrap="square" lIns="1016" tIns="1016" rIns="1016" bIns="1016" rtlCol="0" anchor="t"/>
          <a:lstStyle/>
          <a:p>
            <a:pPr marL="0" indent="0">
              <a:lnSpc>
                <a:spcPct val="120000"/>
              </a:lnSpc>
              <a:buNone/>
            </a:pPr>
            <a:r>
              <a:rPr lang="en-US" sz="2300" b="1" dirty="0">
                <a:solidFill>
                  <a:srgbClr val="0F172A"/>
                </a:solidFill>
                <a:latin typeface="Segoe UI" pitchFamily="34" charset="0"/>
                <a:ea typeface="Segoe UI" pitchFamily="34" charset="-122"/>
                <a:cs typeface="Segoe UI" pitchFamily="34" charset="-120"/>
              </a:rPr>
              <a:t>Business Recommendations
</a:t>
            </a:r>
            <a:endParaRPr lang="en-US" sz="2300"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9265" y="1803357"/>
            <a:ext cx="228594" cy="228594"/>
          </a:xfrm>
          <a:prstGeom prst="rect">
            <a:avLst/>
          </a:prstGeom>
        </p:spPr>
      </p:pic>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61111" y="1803357"/>
            <a:ext cx="228594" cy="228594"/>
          </a:xfrm>
          <a:prstGeom prst="rect">
            <a:avLst/>
          </a:prstGeom>
        </p:spPr>
      </p:pic>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9265" y="3967391"/>
            <a:ext cx="228594" cy="228594"/>
          </a:xfrm>
          <a:prstGeom prst="rect">
            <a:avLst/>
          </a:prstGeom>
        </p:spPr>
      </p:pic>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61111" y="3967391"/>
            <a:ext cx="228594" cy="228594"/>
          </a:xfrm>
          <a:prstGeom prst="rect">
            <a:avLst/>
          </a:prstGeom>
        </p:spPr>
      </p:pic>
      <p:pic>
        <p:nvPicPr>
          <p:cNvPr id="17" name="Image 4" descr="preencoded.png"/>
          <p:cNvPicPr>
            <a:picLocks noChangeAspect="1"/>
          </p:cNvPicPr>
          <p:nvPr/>
        </p:nvPicPr>
        <p:blipFill>
          <a:blip r:embed="rId7"/>
          <a:srcRect/>
          <a:stretch/>
        </p:blipFill>
        <p:spPr>
          <a:xfrm>
            <a:off x="8775480" y="0"/>
            <a:ext cx="3370495" cy="6812280"/>
          </a:xfrm>
          <a:prstGeom prst="rect">
            <a:avLst/>
          </a:prstGeom>
        </p:spPr>
      </p:pic>
      <p:sp>
        <p:nvSpPr>
          <p:cNvPr id="18" name="Text 11"/>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6EE"/>
        </a:solidFill>
        <a:effectLst/>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7C3AED"/>
                </a:solidFill>
                <a:latin typeface="Segoe UI" pitchFamily="34" charset="0"/>
                <a:ea typeface="Segoe UI" pitchFamily="34" charset="-122"/>
                <a:cs typeface="Segoe UI" pitchFamily="34" charset="-120"/>
              </a:rPr>
              <a:t>Future Steps for Analysis
</a:t>
            </a:r>
            <a:endParaRPr lang="en-US" sz="2900" dirty="0"/>
          </a:p>
        </p:txBody>
      </p:sp>
      <p:sp>
        <p:nvSpPr>
          <p:cNvPr id="3" name="Text 1"/>
          <p:cNvSpPr/>
          <p:nvPr/>
        </p:nvSpPr>
        <p:spPr>
          <a:xfrm>
            <a:off x="1242823" y="1732227"/>
            <a:ext cx="10176732" cy="254002"/>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Monitor Customer Trends
</a:t>
            </a:r>
            <a:endParaRPr lang="en-US" sz="1400" dirty="0"/>
          </a:p>
        </p:txBody>
      </p:sp>
      <p:sp>
        <p:nvSpPr>
          <p:cNvPr id="4" name="Text 2"/>
          <p:cNvSpPr/>
          <p:nvPr/>
        </p:nvSpPr>
        <p:spPr>
          <a:xfrm>
            <a:off x="1242823" y="2037019"/>
            <a:ext cx="10176732" cy="515611"/>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Continue tracking customer behavior trends over time to identify shifts in preferences and purchasing patterns, ensuring timely strategic adjustments.
</a:t>
            </a:r>
            <a:endParaRPr lang="en-US" sz="1300" dirty="0"/>
          </a:p>
        </p:txBody>
      </p:sp>
      <p:sp>
        <p:nvSpPr>
          <p:cNvPr id="5" name="Text 3"/>
          <p:cNvSpPr/>
          <p:nvPr/>
        </p:nvSpPr>
        <p:spPr>
          <a:xfrm>
            <a:off x="1252030" y="2801552"/>
            <a:ext cx="10167524" cy="253990"/>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Update Data Models
</a:t>
            </a:r>
            <a:endParaRPr lang="en-US" sz="1400" dirty="0"/>
          </a:p>
        </p:txBody>
      </p:sp>
      <p:sp>
        <p:nvSpPr>
          <p:cNvPr id="6" name="Text 4"/>
          <p:cNvSpPr/>
          <p:nvPr/>
        </p:nvSpPr>
        <p:spPr>
          <a:xfrm>
            <a:off x="1252030" y="3106345"/>
            <a:ext cx="10167524" cy="515599"/>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Regularly refresh data models to maintain accuracy and relevance, incorporating new data points to enhance predictive capabilities and insights.
</a:t>
            </a:r>
            <a:endParaRPr lang="en-US" sz="1300" dirty="0"/>
          </a:p>
        </p:txBody>
      </p:sp>
      <p:sp>
        <p:nvSpPr>
          <p:cNvPr id="7" name="Text 5"/>
          <p:cNvSpPr/>
          <p:nvPr/>
        </p:nvSpPr>
        <p:spPr>
          <a:xfrm>
            <a:off x="1243934" y="3870863"/>
            <a:ext cx="10175620" cy="253990"/>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Enhance Dashboard Features
</a:t>
            </a:r>
            <a:endParaRPr lang="en-US" sz="1400" dirty="0"/>
          </a:p>
        </p:txBody>
      </p:sp>
      <p:sp>
        <p:nvSpPr>
          <p:cNvPr id="8" name="Text 6"/>
          <p:cNvSpPr/>
          <p:nvPr/>
        </p:nvSpPr>
        <p:spPr>
          <a:xfrm>
            <a:off x="1243934" y="4175656"/>
            <a:ext cx="10175620" cy="515611"/>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Improve dashboard functionalities to provide deeper insights, enabling stakeholders to visualize data trends and make informed decisions effectively.
</a:t>
            </a:r>
            <a:endParaRPr lang="en-US" sz="1300" dirty="0"/>
          </a:p>
        </p:txBody>
      </p:sp>
      <p:sp>
        <p:nvSpPr>
          <p:cNvPr id="9" name="Text 7"/>
          <p:cNvSpPr/>
          <p:nvPr/>
        </p:nvSpPr>
        <p:spPr>
          <a:xfrm>
            <a:off x="1259015" y="4940167"/>
            <a:ext cx="10160540" cy="254002"/>
          </a:xfrm>
          <a:prstGeom prst="rect">
            <a:avLst/>
          </a:prstGeom>
          <a:noFill/>
          <a:ln/>
        </p:spPr>
        <p:txBody>
          <a:bodyPr wrap="square" lIns="1016" tIns="1016" rIns="1016" bIns="1016" rtlCol="0" anchor="t"/>
          <a:lstStyle/>
          <a:p>
            <a:pPr marL="0" indent="0">
              <a:lnSpc>
                <a:spcPct val="125000"/>
              </a:lnSpc>
              <a:buNone/>
            </a:pPr>
            <a:r>
              <a:rPr lang="en-US" sz="1400" b="1" dirty="0">
                <a:solidFill>
                  <a:srgbClr val="0F172A"/>
                </a:solidFill>
                <a:latin typeface="Segoe UI" pitchFamily="34" charset="0"/>
                <a:ea typeface="Segoe UI" pitchFamily="34" charset="-122"/>
                <a:cs typeface="Segoe UI" pitchFamily="34" charset="-120"/>
              </a:rPr>
              <a:t>Analyze Shopping Patterns
</a:t>
            </a:r>
            <a:endParaRPr lang="en-US" sz="1400" dirty="0"/>
          </a:p>
        </p:txBody>
      </p:sp>
      <p:sp>
        <p:nvSpPr>
          <p:cNvPr id="10" name="Text 8"/>
          <p:cNvSpPr/>
          <p:nvPr/>
        </p:nvSpPr>
        <p:spPr>
          <a:xfrm>
            <a:off x="1259015" y="5244959"/>
            <a:ext cx="10160540" cy="515611"/>
          </a:xfrm>
          <a:prstGeom prst="rect">
            <a:avLst/>
          </a:prstGeom>
          <a:noFill/>
          <a:ln/>
        </p:spPr>
        <p:txBody>
          <a:bodyPr wrap="square" lIns="1016" tIns="1016" rIns="1016" bIns="1016" rtlCol="0" anchor="t"/>
          <a:lstStyle/>
          <a:p>
            <a:pPr marL="0" indent="0">
              <a:lnSpc>
                <a:spcPct val="145000"/>
              </a:lnSpc>
              <a:buNone/>
            </a:pPr>
            <a:r>
              <a:rPr lang="en-US" sz="1300" dirty="0">
                <a:solidFill>
                  <a:srgbClr val="475569"/>
                </a:solidFill>
                <a:latin typeface="Segoe UI" pitchFamily="34" charset="0"/>
                <a:ea typeface="Segoe UI" pitchFamily="34" charset="-122"/>
                <a:cs typeface="Segoe UI" pitchFamily="34" charset="-120"/>
              </a:rPr>
              <a:t>Conduct further analysis on emerging shopping patterns, focusing on seasonal trends and customer feedback to refine marketing strategies.
</a:t>
            </a:r>
            <a:endParaRPr lang="en-US" sz="1300" dirty="0"/>
          </a:p>
        </p:txBody>
      </p:sp>
      <p:sp>
        <p:nvSpPr>
          <p:cNvPr id="11" name="Shape 9"/>
          <p:cNvSpPr/>
          <p:nvPr/>
        </p:nvSpPr>
        <p:spPr>
          <a:xfrm>
            <a:off x="743408" y="1722077"/>
            <a:ext cx="304792" cy="304792"/>
          </a:xfrm>
          <a:prstGeom prst="ellipse">
            <a:avLst/>
          </a:prstGeom>
          <a:solidFill>
            <a:srgbClr val="7C3AED"/>
          </a:solidFill>
          <a:ln/>
        </p:spPr>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260" y="1791928"/>
            <a:ext cx="165088" cy="165088"/>
          </a:xfrm>
          <a:prstGeom prst="rect">
            <a:avLst/>
          </a:prstGeom>
        </p:spPr>
      </p:pic>
      <p:sp>
        <p:nvSpPr>
          <p:cNvPr id="13" name="Shape 10"/>
          <p:cNvSpPr/>
          <p:nvPr/>
        </p:nvSpPr>
        <p:spPr>
          <a:xfrm>
            <a:off x="882945" y="2026869"/>
            <a:ext cx="25399" cy="764517"/>
          </a:xfrm>
          <a:prstGeom prst="rect">
            <a:avLst/>
          </a:prstGeom>
          <a:solidFill>
            <a:srgbClr val="7C3AED"/>
          </a:solidFill>
          <a:ln/>
        </p:spPr>
      </p:sp>
      <p:sp>
        <p:nvSpPr>
          <p:cNvPr id="14" name="Shape 11"/>
          <p:cNvSpPr/>
          <p:nvPr/>
        </p:nvSpPr>
        <p:spPr>
          <a:xfrm>
            <a:off x="748011" y="2791380"/>
            <a:ext cx="304792" cy="304792"/>
          </a:xfrm>
          <a:prstGeom prst="ellipse">
            <a:avLst/>
          </a:prstGeom>
          <a:solidFill>
            <a:srgbClr val="7C3AED"/>
          </a:solidFill>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7859" y="2861240"/>
            <a:ext cx="165096" cy="165096"/>
          </a:xfrm>
          <a:prstGeom prst="rect">
            <a:avLst/>
          </a:prstGeom>
        </p:spPr>
      </p:pic>
      <p:sp>
        <p:nvSpPr>
          <p:cNvPr id="16" name="Shape 12"/>
          <p:cNvSpPr/>
          <p:nvPr/>
        </p:nvSpPr>
        <p:spPr>
          <a:xfrm>
            <a:off x="887549" y="3096173"/>
            <a:ext cx="25399" cy="764529"/>
          </a:xfrm>
          <a:prstGeom prst="rect">
            <a:avLst/>
          </a:prstGeom>
          <a:solidFill>
            <a:srgbClr val="7C3AED"/>
          </a:solidFill>
          <a:ln/>
        </p:spPr>
      </p:sp>
      <p:sp>
        <p:nvSpPr>
          <p:cNvPr id="17" name="Shape 13"/>
          <p:cNvSpPr/>
          <p:nvPr/>
        </p:nvSpPr>
        <p:spPr>
          <a:xfrm>
            <a:off x="743884" y="3860706"/>
            <a:ext cx="304792" cy="304792"/>
          </a:xfrm>
          <a:prstGeom prst="ellipse">
            <a:avLst/>
          </a:prstGeom>
          <a:solidFill>
            <a:srgbClr val="7C3AED"/>
          </a:solidFill>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3732" y="3930544"/>
            <a:ext cx="165096" cy="165096"/>
          </a:xfrm>
          <a:prstGeom prst="rect">
            <a:avLst/>
          </a:prstGeom>
        </p:spPr>
      </p:pic>
      <p:sp>
        <p:nvSpPr>
          <p:cNvPr id="19" name="Shape 14"/>
          <p:cNvSpPr/>
          <p:nvPr/>
        </p:nvSpPr>
        <p:spPr>
          <a:xfrm>
            <a:off x="883580" y="4165498"/>
            <a:ext cx="25399" cy="764517"/>
          </a:xfrm>
          <a:prstGeom prst="rect">
            <a:avLst/>
          </a:prstGeom>
          <a:solidFill>
            <a:srgbClr val="7C3AED"/>
          </a:solidFill>
          <a:ln/>
        </p:spPr>
      </p:sp>
      <p:sp>
        <p:nvSpPr>
          <p:cNvPr id="20" name="Shape 15"/>
          <p:cNvSpPr/>
          <p:nvPr/>
        </p:nvSpPr>
        <p:spPr>
          <a:xfrm>
            <a:off x="751504" y="4930017"/>
            <a:ext cx="304792" cy="304792"/>
          </a:xfrm>
          <a:prstGeom prst="ellipse">
            <a:avLst/>
          </a:prstGeom>
          <a:solidFill>
            <a:srgbClr val="7C3AED"/>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1356" y="4999867"/>
            <a:ext cx="165088" cy="165088"/>
          </a:xfrm>
          <a:prstGeom prst="rect">
            <a:avLst/>
          </a:prstGeom>
        </p:spPr>
      </p:pic>
      <p:sp>
        <p:nvSpPr>
          <p:cNvPr id="22" name="Text 16"/>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6EE"/>
        </a:solidFill>
        <a:effectLst/>
      </p:bgPr>
    </p:bg>
    <p:spTree>
      <p:nvGrpSpPr>
        <p:cNvPr id="1" name=""/>
        <p:cNvGrpSpPr/>
        <p:nvPr/>
      </p:nvGrpSpPr>
      <p:grpSpPr>
        <a:xfrm>
          <a:off x="0" y="0"/>
          <a:ext cx="0" cy="0"/>
          <a:chOff x="0" y="0"/>
          <a:chExt cx="0" cy="0"/>
        </a:xfrm>
      </p:grpSpPr>
      <p:sp>
        <p:nvSpPr>
          <p:cNvPr id="2" name="Text 0"/>
          <p:cNvSpPr/>
          <p:nvPr/>
        </p:nvSpPr>
        <p:spPr>
          <a:xfrm>
            <a:off x="4807624" y="2210853"/>
            <a:ext cx="2576289" cy="407350"/>
          </a:xfrm>
          <a:prstGeom prst="rect">
            <a:avLst/>
          </a:prstGeom>
          <a:noFill/>
          <a:ln/>
        </p:spPr>
        <p:txBody>
          <a:bodyPr wrap="square" lIns="1016" tIns="1016" rIns="1016" bIns="1016" rtlCol="0" anchor="t"/>
          <a:lstStyle/>
          <a:p>
            <a:pPr marL="0" indent="0" algn="ctr">
              <a:lnSpc>
                <a:spcPct val="118832"/>
              </a:lnSpc>
              <a:buNone/>
            </a:pPr>
            <a:r>
              <a:rPr lang="en-US" sz="2400" b="1" dirty="0">
                <a:solidFill>
                  <a:srgbClr val="0F172A"/>
                </a:solidFill>
                <a:latin typeface="Segoe UI" pitchFamily="34" charset="0"/>
                <a:ea typeface="Segoe UI" pitchFamily="34" charset="-122"/>
                <a:cs typeface="Segoe UI" pitchFamily="34" charset="-120"/>
              </a:rPr>
              <a:t>Key Takeaways
</a:t>
            </a:r>
            <a:endParaRPr lang="en-US" sz="2400" dirty="0"/>
          </a:p>
        </p:txBody>
      </p:sp>
      <p:sp>
        <p:nvSpPr>
          <p:cNvPr id="3" name="Text 1"/>
          <p:cNvSpPr/>
          <p:nvPr/>
        </p:nvSpPr>
        <p:spPr>
          <a:xfrm>
            <a:off x="1848439" y="3127136"/>
            <a:ext cx="8494818" cy="2154668"/>
          </a:xfrm>
          <a:prstGeom prst="rect">
            <a:avLst/>
          </a:prstGeom>
          <a:noFill/>
          <a:ln/>
        </p:spPr>
        <p:txBody>
          <a:bodyPr wrap="square" lIns="1016" tIns="1016" rIns="1016" bIns="1016" rtlCol="0" anchor="t"/>
          <a:lstStyle/>
          <a:p>
            <a:pPr marL="0" indent="0" algn="ctr">
              <a:lnSpc>
                <a:spcPct val="161611"/>
              </a:lnSpc>
              <a:buNone/>
            </a:pPr>
            <a:r>
              <a:rPr lang="en-US" sz="1400" dirty="0">
                <a:solidFill>
                  <a:srgbClr val="475569"/>
                </a:solidFill>
                <a:latin typeface="Segoe UI" pitchFamily="34" charset="0"/>
                <a:ea typeface="Segoe UI" pitchFamily="34" charset="-122"/>
                <a:cs typeface="Segoe UI" pitchFamily="34" charset="-120"/>
              </a:rPr>
              <a:t>In summary, our analysis revealed critical insights into customer behavior, including the importance of targeted marketing and effective product positioning. We recommend enhancing customer loyalty programs and leveraging data-driven strategies to boost subscriptions. By focusing on high-revenue segments and optimizing discount policies, businesses can significantly improve profitability. Moving forward, continuous data analysis will be essential for adapting to changing consumer preferences and maximizing growth opportunities.
</a:t>
            </a:r>
            <a:endParaRPr lang="en-US" sz="1400" dirty="0"/>
          </a:p>
        </p:txBody>
      </p:sp>
      <p:sp>
        <p:nvSpPr>
          <p:cNvPr id="4" name="Shape 2"/>
          <p:cNvSpPr/>
          <p:nvPr/>
        </p:nvSpPr>
        <p:spPr>
          <a:xfrm>
            <a:off x="5778990" y="2844414"/>
            <a:ext cx="633714" cy="56506"/>
          </a:xfrm>
          <a:prstGeom prst="ellipse">
            <a:avLst/>
          </a:prstGeom>
          <a:solidFill>
            <a:srgbClr val="7C3AED"/>
          </a:solidFill>
          <a:ln/>
        </p:spPr>
      </p:sp>
      <p:sp>
        <p:nvSpPr>
          <p:cNvPr id="5" name="Text 3"/>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1252</Words>
  <Application>Microsoft Office PowerPoint</Application>
  <PresentationFormat>Widescreen</PresentationFormat>
  <Paragraphs>122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ROHIT KUMAR SINGH</cp:lastModifiedBy>
  <cp:revision>1</cp:revision>
  <dcterms:created xsi:type="dcterms:W3CDTF">2026-09-05T14:15:22Z</dcterms:created>
  <dcterms:modified xsi:type="dcterms:W3CDTF">2026-09-05T14:17:27Z</dcterms:modified>
</cp:coreProperties>
</file>